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C55E"/>
                </a:solidFill>
                <a:latin typeface="Consolas"/>
              </a:rPr>
              <a:t>● SYSTEM ONLINE   ·   SECTOR: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E8F0D8"/>
                </a:solidFill>
                <a:latin typeface="Segoe UI Semibold"/>
              </a:rPr>
              <a:t>Claude Code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59E0B"/>
                </a:solidFill>
                <a:latin typeface="Segoe UI Semibold"/>
              </a:rPr>
              <a:t>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160520"/>
            <a:ext cx="292608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8F0D8"/>
                </a:solidFill>
                <a:latin typeface="Segoe UI"/>
              </a:rPr>
              <a:t>Vom Agenten-Grundlagen bis zu autonomen Multi-Agent-Systemen — </a:t>
            </a:r>
            <a:r>
              <a:rPr sz="1800" b="1">
                <a:solidFill>
                  <a:srgbClr val="F59E0B"/>
                </a:solidFill>
                <a:latin typeface="Segoe UI"/>
              </a:rPr>
              <a:t>4 Sessions · 65 Lerneinheiten.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AB8C"/>
                </a:solidFill>
                <a:latin typeface="Segoe UI"/>
              </a:rPr>
              <a:t>Für erfahrene Entwickler aus Physical Security (Zutrittskontrolle, Alarmsysteme).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9AAB8C"/>
                </a:solidFill>
                <a:latin typeface="Consolas"/>
              </a:rPr>
              <a:t>CLAUDE CODE WORKSHOP  ·  4 Sessions / 65 Lerneinheiten  ·  session-plan.md = Single Source of Truth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695" cy="12700"/>
          </a:xfrm>
          <a:prstGeom prst="rect">
            <a:avLst/>
          </a:prstGeom>
          <a:solidFill>
            <a:srgbClr val="2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onsolas"/>
              </a:rPr>
              <a:t>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8F0D8"/>
                </a:solidFill>
                <a:latin typeface="Segoe UI Semibold"/>
              </a:rPr>
              <a:t>Nach dem Workshop setzt du Claude Code eigenständig und produktiv ein.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237744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194560"/>
            <a:ext cx="109728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8F0D8"/>
                </a:solidFill>
                <a:latin typeface="Segoe UI Semibold"/>
              </a:rPr>
              <a:t>Kein Chat-Fenster — ein Agent.  </a:t>
            </a:r>
            <a:r>
              <a:rPr sz="1500" b="0">
                <a:solidFill>
                  <a:srgbClr val="9AAB8C"/>
                </a:solidFill>
                <a:latin typeface="Segoe UI"/>
              </a:rPr>
              <a:t>Direkter Zugriff auf Filesystem, Shell und Git; du steuerst über das Permission-System (Clearance-Level).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291840"/>
            <a:ext cx="109728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8F0D8"/>
                </a:solidFill>
                <a:latin typeface="Segoe UI Semibold"/>
              </a:rPr>
              <a:t>Demos &gt; Slides.  </a:t>
            </a:r>
            <a:r>
              <a:rPr sz="1500" b="0">
                <a:solidFill>
                  <a:srgbClr val="9AAB8C"/>
                </a:solidFill>
                <a:latin typeface="Segoe UI"/>
              </a:rPr>
              <a:t>Jede Lerneinheit: Konzept sehen → Live-Demo → selbst ausprobieren → mit Cheatsheet absichern.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389120"/>
            <a:ext cx="109728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8F0D8"/>
                </a:solidFill>
                <a:latin typeface="Segoe UI Semibold"/>
              </a:rPr>
              <a:t>Security-Analogien als Werkzeug.  </a:t>
            </a:r>
            <a:r>
              <a:rPr sz="1500" b="0">
                <a:solidFill>
                  <a:srgbClr val="9AAB8C"/>
                </a:solidFill>
                <a:latin typeface="Segoe UI"/>
              </a:rPr>
              <a:t>Zutrittskontrolle, Alarm-Sensoren, SOC-Team — vertraute Bilder für neue Konzepte.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9AAB8C"/>
                </a:solidFill>
                <a:latin typeface="Consolas"/>
              </a:rPr>
              <a:t>CLAUDE CODE WORKSHOP  ·  4 Sessions / 65 Lerneinheiten  ·  session-plan.md = Single Source of Truth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36208"/>
            <a:ext cx="12191695" cy="12700"/>
          </a:xfrm>
          <a:prstGeom prst="rect">
            <a:avLst/>
          </a:prstGeom>
          <a:solidFill>
            <a:srgbClr val="2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onsolas"/>
              </a:rPr>
              <a:t>LANDKARTE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8F0D8"/>
                </a:solidFill>
                <a:latin typeface="Segoe UI Semibold"/>
              </a:rPr>
              <a:t>Die vier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37744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10881360" cy="96012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128016" cy="9601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SESSION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AAB8C"/>
                </a:solidFill>
                <a:latin typeface="Consolas"/>
              </a:rPr>
              <a:t>Foundations · S1.1–S1.20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385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F0D8"/>
                </a:solidFill>
                <a:latin typeface="Segoe UI Semibold"/>
              </a:rPr>
              <a:t>Erste Schritte mit dem Agenten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B8C"/>
                </a:solidFill>
                <a:latin typeface="Segoe UI"/>
              </a:rPr>
              <a:t>CLI · Kontext · Prompting · Git · Permissions (6 Modi) · Kosten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907792"/>
            <a:ext cx="10881360" cy="96012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907792"/>
            <a:ext cx="128016" cy="9601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78BFA"/>
                </a:solidFill>
                <a:latin typeface="Consolas"/>
              </a:rPr>
              <a:t>SESSION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AAB8C"/>
                </a:solidFill>
                <a:latin typeface="Consolas"/>
              </a:rPr>
              <a:t>Ecosystem · S2.1–S2.20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F0D8"/>
                </a:solidFill>
                <a:latin typeface="Segoe UI Semibold"/>
              </a:rPr>
              <a:t>Das Ecosystem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B8C"/>
                </a:solidFill>
                <a:latin typeface="Segoe UI"/>
              </a:rPr>
              <a:t>Skills · Hooks · Plugins · MCP · RAG / NotebookLM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986784"/>
            <a:ext cx="10881360" cy="96012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986784"/>
            <a:ext cx="128016" cy="96012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96512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B7185"/>
                </a:solidFill>
                <a:latin typeface="Consolas"/>
              </a:rPr>
              <a:t>SESSION 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AAB8C"/>
                </a:solidFill>
                <a:latin typeface="Consolas"/>
              </a:rPr>
              <a:t>Advanced-Kern · S3.1–S3.15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096512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F0D8"/>
                </a:solidFill>
                <a:latin typeface="Segoe UI Semibold"/>
              </a:rPr>
              <a:t>Advanced Kern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B8C"/>
                </a:solidFill>
                <a:latin typeface="Segoe UI"/>
              </a:rPr>
              <a:t>Agents &amp; Orchestrierung · adversariale Security · Hardening · Automation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065776"/>
            <a:ext cx="10881360" cy="96012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065776"/>
            <a:ext cx="128016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75504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Consolas"/>
              </a:rPr>
              <a:t>SESSION 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AAB8C"/>
                </a:solidFill>
                <a:latin typeface="Consolas"/>
              </a:rPr>
              <a:t>Advanced-Bonus · S4.1–S4.10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175504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F0D8"/>
                </a:solidFill>
                <a:latin typeface="Segoe UI Semibold"/>
              </a:rPr>
              <a:t>Advanced Bonus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B8C"/>
                </a:solidFill>
                <a:latin typeface="Segoe UI"/>
              </a:rPr>
              <a:t>Multi-Model · CI/CD &amp; Headless · Capstone-Architektur · Troubleshooting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9AAB8C"/>
                </a:solidFill>
                <a:latin typeface="Consolas"/>
              </a:rPr>
              <a:t>CLAUDE CODE WORKSHOP  ·  4 Sessions / 65 Lerneinheiten  ·  session-plan.md = Single Source of Truth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36208"/>
            <a:ext cx="12191695" cy="12700"/>
          </a:xfrm>
          <a:prstGeom prst="rect">
            <a:avLst/>
          </a:prstGeom>
          <a:solidFill>
            <a:srgbClr val="2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onsolas"/>
              </a:rPr>
              <a:t>DIDAKTIK · TIERING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8F0D8"/>
                </a:solidFill>
                <a:latin typeface="Segoe UI Semibold"/>
              </a:rPr>
              <a:t>Drei Schichten pro Lerneinheit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37744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20240"/>
            <a:ext cx="3520440" cy="237744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3520440" cy="508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2C55E"/>
                </a:solidFill>
                <a:latin typeface="Consolas"/>
              </a:rPr>
              <a:t>[core]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F0D8"/>
                </a:solidFill>
                <a:latin typeface="Segoe UI Semibold"/>
              </a:rPr>
              <a:t>Pflichtpfad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B8C"/>
                </a:solidFill>
                <a:latin typeface="Segoe UI"/>
              </a:rPr>
              <a:t>Was jeder können muss. Wird immer gefahren.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5" y="1920240"/>
            <a:ext cx="3520440" cy="237744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5" y="1920240"/>
            <a:ext cx="3520440" cy="508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7" y="21945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  <a:latin typeface="Consolas"/>
              </a:rPr>
              <a:t>[deep-dive]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7" y="278892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F0D8"/>
                </a:solidFill>
                <a:latin typeface="Segoe UI Semibold"/>
              </a:rPr>
              <a:t>„Wenn Zeit, dann zeigen"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B8C"/>
                </a:solidFill>
                <a:latin typeface="Segoe UI"/>
              </a:rPr>
              <a:t>Optionale Vertiefung desselben Themas.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0142" y="1920240"/>
            <a:ext cx="3520440" cy="237744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2" y="1920240"/>
            <a:ext cx="3520440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4" y="21945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A78BFA"/>
                </a:solidFill>
                <a:latin typeface="Consolas"/>
              </a:rPr>
              <a:t>[bonus]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4" y="278892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F0D8"/>
                </a:solidFill>
                <a:latin typeface="Segoe UI Semibold"/>
              </a:rPr>
              <a:t>Kür / Showcase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B8C"/>
                </a:solidFill>
                <a:latin typeface="Segoe UI"/>
              </a:rPr>
              <a:t>Nur bei Überschuss oder auf Nachfrage (Custom-Komponenten).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61772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⏱  Termin-Länge ist kein harter Constraint.  </a:t>
            </a:r>
            <a:r>
              <a:rPr sz="1500" b="0">
                <a:solidFill>
                  <a:srgbClr val="9AAB8C"/>
                </a:solidFill>
                <a:latin typeface="Segoe UI"/>
              </a:rPr>
              <a:t>Content-Vollständigkeit vor Slot-Fitting; Sessions laufen so lang wie nötig — mit Pausen + kurzen Recall-Fragen gegen Ermüdung.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9AAB8C"/>
                </a:solidFill>
                <a:latin typeface="Consolas"/>
              </a:rPr>
              <a:t>CLAUDE CODE WORKSHOP  ·  4 Sessions / 65 Lerneinheiten  ·  session-plan.md = Single Source of Truth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36208"/>
            <a:ext cx="12191695" cy="12700"/>
          </a:xfrm>
          <a:prstGeom prst="rect">
            <a:avLst/>
          </a:prstGeom>
          <a:solidFill>
            <a:srgbClr val="2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onsolas"/>
              </a:rPr>
              <a:t>DIDAKTIK · RHYTHMUS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8F0D8"/>
                </a:solidFill>
                <a:latin typeface="Segoe UI Semibold"/>
              </a:rPr>
              <a:t>Jede Lerneinheit im selben Takt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37744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103120"/>
            <a:ext cx="2651760" cy="210312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8600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9E0B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06324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F0D8"/>
                </a:solidFill>
                <a:latin typeface="Segoe UI Semibold"/>
              </a:rPr>
              <a:t>Konzept verstehen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B8C"/>
                </a:solidFill>
                <a:latin typeface="Segoe UI"/>
              </a:rPr>
              <a:t>LE-Abschnitt im Modul lesen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7889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59E0B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9856" y="2103120"/>
            <a:ext cx="2651760" cy="210312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228600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9E0B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306324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F0D8"/>
                </a:solidFill>
                <a:latin typeface="Segoe UI Semibold"/>
              </a:rPr>
              <a:t>Live-Demo sehen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B8C"/>
                </a:solidFill>
                <a:latin typeface="Segoe UI"/>
              </a:rPr>
              <a:t>Demo &gt; Slides — nachvollziehen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7889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59E0B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2103120"/>
            <a:ext cx="2651760" cy="210312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8600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9E0B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06324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F0D8"/>
                </a:solidFill>
                <a:latin typeface="Segoe UI Semibold"/>
              </a:rPr>
              <a:t>Selbst ausprobieren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B8C"/>
                </a:solidFill>
                <a:latin typeface="Segoe UI"/>
              </a:rPr>
              <a:t>Exercise im Hands-on-Puffer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27889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59E0B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42832" y="2103120"/>
            <a:ext cx="2651760" cy="210312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228600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9E0B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306324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F0D8"/>
                </a:solidFill>
                <a:latin typeface="Segoe UI Semibold"/>
              </a:rPr>
              <a:t>Absichern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B8C"/>
                </a:solidFill>
                <a:latin typeface="Segoe UI"/>
              </a:rPr>
              <a:t>Cheatsheet / Quick-Reference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57200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Start jeder Session: visuell mit diesem Deck. </a:t>
            </a:r>
            <a:r>
              <a:rPr sz="1500" b="0">
                <a:solidFill>
                  <a:srgbClr val="9AAB8C"/>
                </a:solidFill>
                <a:latin typeface="Segoe UI"/>
              </a:rPr>
              <a:t>Interaktives Lern-Cockpit (cloud-code-workshop-ui.html) + Mentor-Agent begleiten das Selbststudium.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9AAB8C"/>
                </a:solidFill>
                <a:latin typeface="Consolas"/>
              </a:rPr>
              <a:t>CLAUDE CODE WORKSHOP  ·  4 Sessions / 65 Lerneinheiten  ·  session-plan.md = Single Source of Truth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36208"/>
            <a:ext cx="12191695" cy="12700"/>
          </a:xfrm>
          <a:prstGeom prst="rect">
            <a:avLst/>
          </a:prstGeom>
          <a:solidFill>
            <a:srgbClr val="2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18CF8"/>
                </a:solidFill>
                <a:latin typeface="Consolas"/>
              </a:rPr>
              <a:t>SESSION 1  · 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8F0D8"/>
                </a:solidFill>
                <a:latin typeface="Segoe UI Semibold"/>
              </a:rPr>
              <a:t>Erste Schritte mit dem Agenten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377440" cy="4445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18CF8"/>
                </a:solidFill>
                <a:latin typeface="Segoe UI Semibold"/>
              </a:rPr>
              <a:t>Mission: </a:t>
            </a:r>
            <a:r>
              <a:rPr sz="1500" b="0">
                <a:solidFill>
                  <a:srgbClr val="9AAB8C"/>
                </a:solidFill>
                <a:latin typeface="Segoe UI"/>
              </a:rPr>
              <a:t>Was ist Claude Code, wie steuere ich es, wie arbeite ich sicher mit Git — und behalte Kosten im Blick.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532888"/>
            <a:ext cx="91440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Coding Agent vs. Chat — mentales Modell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099816"/>
            <a:ext cx="91440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First Contact: sofort eine Datei bauen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66744"/>
            <a:ext cx="91440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02736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Oberflächen: CLI · Desktop · IDE · Web · 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233672"/>
            <a:ext cx="91440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9664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Permission Modes komplett (6 Modi + Cloud)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800600"/>
            <a:ext cx="91440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3659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Modellwahl &amp; Effort (Opus 4.8 / Sonnet 5 / Haiku / Fable 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32888"/>
            <a:ext cx="91440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4688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Kontextfenster · /compact · /rewind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099816"/>
            <a:ext cx="91440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03580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CLAUDE.md: Projekt-Standing-Orders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66744"/>
            <a:ext cx="91440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602736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Vager vs. präziser Prompt · Plan Mode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233672"/>
            <a:ext cx="91440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169664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Git in einem Flow: branch → commit → 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800600"/>
            <a:ext cx="91440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73659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Kosten im Blick: /cost · /usage · Budget-Cap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577840"/>
            <a:ext cx="10881360" cy="50292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577840"/>
            <a:ext cx="109728" cy="5029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632704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Segoe UI Semibold"/>
              </a:rPr>
              <a:t>Security-Analogie:  </a:t>
            </a:r>
            <a:r>
              <a:rPr sz="1300" b="0">
                <a:solidFill>
                  <a:srgbClr val="9AAB8C"/>
                </a:solidFill>
                <a:latin typeface="Segoe UI"/>
              </a:rPr>
              <a:t>Permission Modes = Clearance-Level. default = Besucherausweis (nur lesen) … bypass = Generalschlüssel (nur versiegelte Umgebungen).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9AAB8C"/>
                </a:solidFill>
                <a:latin typeface="Consolas"/>
              </a:rPr>
              <a:t>CLAUDE CODE WORKSHOP  ·  4 Sessions / 65 Lerneinheiten  ·  session-plan.md = Single Source of Truth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236208"/>
            <a:ext cx="12191695" cy="12700"/>
          </a:xfrm>
          <a:prstGeom prst="rect">
            <a:avLst/>
          </a:prstGeom>
          <a:solidFill>
            <a:srgbClr val="2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onsolas"/>
              </a:rPr>
              <a:t>SESSION 2  · 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8F0D8"/>
                </a:solidFill>
                <a:latin typeface="Segoe UI Semibold"/>
              </a:rPr>
              <a:t>Das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377440" cy="4445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A78BFA"/>
                </a:solidFill>
                <a:latin typeface="Segoe UI Semibold"/>
              </a:rPr>
              <a:t>Mission: </a:t>
            </a:r>
            <a:r>
              <a:rPr sz="1500" b="0">
                <a:solidFill>
                  <a:srgbClr val="9AAB8C"/>
                </a:solidFill>
                <a:latin typeface="Segoe UI"/>
              </a:rPr>
              <a:t>Wie man Claude Code erweitert und kontrolliert.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532888"/>
            <a:ext cx="91440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Skills = SOPs, Commands = Buttons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099816"/>
            <a:ext cx="91440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Eine SKILL.md schreiben (Frontmatter)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66744"/>
            <a:ext cx="91440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02736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Bundled Skills (/run · /verify · /loop 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233672"/>
            <a:ext cx="91440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9664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Hooks = Event-Listener (die 3 Eckpfeiler)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800600"/>
            <a:ext cx="91440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3659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Hook-Events landkarten &amp; konfigurieren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32888"/>
            <a:ext cx="91440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4688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Plugins: ein Bundle schnüren + Scopes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099816"/>
            <a:ext cx="91440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03580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Plugin-Supply-Chain-Risiken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66744"/>
            <a:ext cx="91440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602736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MCP: der Integrations-Stecker (Transports)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233672"/>
            <a:ext cx="91440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169664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MCP-Security &amp; eigenen Server bauen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800600"/>
            <a:ext cx="91440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73659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RAG &amp; NotebookLM: dem Agenten Blueprints geben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577840"/>
            <a:ext cx="10881360" cy="50292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577840"/>
            <a:ext cx="109728" cy="5029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632704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78BFA"/>
                </a:solidFill>
                <a:latin typeface="Segoe UI Semibold"/>
              </a:rPr>
              <a:t>Security-Analogie:  </a:t>
            </a:r>
            <a:r>
              <a:rPr sz="1300" b="0">
                <a:solidFill>
                  <a:srgbClr val="9AAB8C"/>
                </a:solidFill>
                <a:latin typeface="Segoe UI"/>
              </a:rPr>
              <a:t>Hooks = Alarm-Sensoren (feuern auf Events). Plugin = zertifiziertes Sicherheitsmodul. MCP = Integrations-Stecker zu Fremdsystemen.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9AAB8C"/>
                </a:solidFill>
                <a:latin typeface="Consolas"/>
              </a:rPr>
              <a:t>CLAUDE CODE WORKSHOP  ·  4 Sessions / 65 Lerneinheiten  ·  session-plan.md = Single Source of Truth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236208"/>
            <a:ext cx="12191695" cy="12700"/>
          </a:xfrm>
          <a:prstGeom prst="rect">
            <a:avLst/>
          </a:prstGeom>
          <a:solidFill>
            <a:srgbClr val="2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B7185"/>
                </a:solidFill>
                <a:latin typeface="Consolas"/>
              </a:rPr>
              <a:t>SESSION 3  ·  ADVANCED KERN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8F0D8"/>
                </a:solidFill>
                <a:latin typeface="Segoe UI Semibold"/>
              </a:rPr>
              <a:t>Advanced Kern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377440" cy="4445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B7185"/>
                </a:solidFill>
                <a:latin typeface="Segoe UI Semibold"/>
              </a:rPr>
              <a:t>Mission: </a:t>
            </a:r>
            <a:r>
              <a:rPr sz="1500" b="0">
                <a:solidFill>
                  <a:srgbClr val="9AAB8C"/>
                </a:solidFill>
                <a:latin typeface="Segoe UI"/>
              </a:rPr>
              <a:t>Spezialisierte Agenten, automatisierte Security-Prüfung, sichere Automation.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532888"/>
            <a:ext cx="9144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Was ist ein Agent? (Spezialisierung)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099816"/>
            <a:ext cx="9144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Built-in Subagents (Explore/Plan/general)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66744"/>
            <a:ext cx="9144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02736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Custom Subagent definieren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233672"/>
            <a:ext cx="9144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9664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Orchestrierung: Fan-Out · Pipeline · Hierarchie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800600"/>
            <a:ext cx="9144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3659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Devil's Advocate: adversariale Security-Pipeline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32888"/>
            <a:ext cx="9144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4688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Built-in Review-Trio (/security-review …)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099816"/>
            <a:ext cx="9144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03580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Permissions für Autonomie · Protected Paths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66744"/>
            <a:ext cx="9144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602736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Sandboxing-Stufen · Datenschutz &amp; Compliance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233672"/>
            <a:ext cx="9144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169664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Scheduling: /loop · /goal · /schedule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800600"/>
            <a:ext cx="9144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73659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Autonome Loops absichern (Budget + Worktree)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577840"/>
            <a:ext cx="10881360" cy="50292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577840"/>
            <a:ext cx="109728" cy="50292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632704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B7185"/>
                </a:solidFill>
                <a:latin typeface="Segoe UI Semibold"/>
              </a:rPr>
              <a:t>Security-Analogie:  </a:t>
            </a:r>
            <a:r>
              <a:rPr sz="1300" b="0">
                <a:solidFill>
                  <a:srgbClr val="9AAB8C"/>
                </a:solidFill>
                <a:latin typeface="Segoe UI"/>
              </a:rPr>
              <a:t>Agenten = spezialisiertes SOC-Team; die adversariale Pipeline = internes Red-Team, das die eigene Analyse angreift.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9AAB8C"/>
                </a:solidFill>
                <a:latin typeface="Consolas"/>
              </a:rPr>
              <a:t>CLAUDE CODE WORKSHOP  ·  4 Sessions / 65 Lerneinheiten  ·  session-plan.md = Single Source of Truth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236208"/>
            <a:ext cx="12191695" cy="12700"/>
          </a:xfrm>
          <a:prstGeom prst="rect">
            <a:avLst/>
          </a:prstGeom>
          <a:solidFill>
            <a:srgbClr val="2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onsolas"/>
              </a:rPr>
              <a:t>SESSION 4  ·  ADVANCED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8F0D8"/>
                </a:solidFill>
                <a:latin typeface="Segoe UI Semibold"/>
              </a:rPr>
              <a:t>Advanced Bonus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37744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Segoe UI Semibold"/>
              </a:rPr>
              <a:t>Mission: </a:t>
            </a:r>
            <a:r>
              <a:rPr sz="1500" b="0">
                <a:solidFill>
                  <a:srgbClr val="9AAB8C"/>
                </a:solidFill>
                <a:latin typeface="Segoe UI"/>
              </a:rPr>
              <a:t>Multi-Model, CI/CD, die volle Architektur — und souverän debuggen.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532888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Multi-Model: richtiges Modell pro Phase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099816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Codex Swarm &amp; Daten-Fluss-Grenze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66744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02736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Headless Mode: claude -p als Pipeline-Stufe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233672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9664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CI-Auth, Cost-Caps &amp; Cost-Engineering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800600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3659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CI-Pipelines bauen (GitHub Actions / GitLab)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32888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4688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Mobile/Remote · Inception &amp; Worktree-Isolation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099816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03580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Die volle Architektur (Capstone-Diskussion)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66744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602736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Troubleshooting: /debug · --verbose · /doctor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233672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169664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F0D8"/>
                </a:solidFill>
                <a:latin typeface="Segoe UI"/>
              </a:rPr>
              <a:t>Diagnose-Sequenzen (Hook/Skill/Plugin/MCP)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577840"/>
            <a:ext cx="10881360" cy="50292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577840"/>
            <a:ext cx="109728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32704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Segoe UI Semibold"/>
              </a:rPr>
              <a:t>Security-Analogie:  </a:t>
            </a:r>
            <a:r>
              <a:rPr sz="1300" b="0">
                <a:solidFill>
                  <a:srgbClr val="9AAB8C"/>
                </a:solidFill>
                <a:latin typeface="Segoe UI"/>
              </a:rPr>
              <a:t>Multi-Model = Dienstplan-Staffing (richtige Rolle pro Aufgabe). Troubleshooting = Alarmpanel-Fehlerisolation, Schicht für Schicht.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9AAB8C"/>
                </a:solidFill>
                <a:latin typeface="Consolas"/>
              </a:rPr>
              <a:t>CLAUDE CODE WORKSHOP  ·  4 Sessions / 65 Lerneinheiten  ·  session-plan.md = Single Source of Truth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36208"/>
            <a:ext cx="12191695" cy="12700"/>
          </a:xfrm>
          <a:prstGeom prst="rect">
            <a:avLst/>
          </a:prstGeom>
          <a:solidFill>
            <a:srgbClr val="2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onsolas"/>
              </a:rPr>
              <a:t>MATERIALIEN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8F0D8"/>
                </a:solidFill>
                <a:latin typeface="Segoe UI Semibold"/>
              </a:rPr>
              <a:t>So arbeitest du durch den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37744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20240"/>
            <a:ext cx="5257800" cy="114300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F0D8"/>
                </a:solidFill>
                <a:latin typeface="Segoe UI Semibold"/>
              </a:rPr>
              <a:t>Interaktives Lern-Cockpit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B8C"/>
                </a:solidFill>
                <a:latin typeface="Segoe UI"/>
              </a:rPr>
              <a:t>cloud-code-workshop-ui.html — 65 LEs, Slides, Übungen, Quiz, Fortschritt.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920240"/>
            <a:ext cx="5257800" cy="114300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F0D8"/>
                </a:solidFill>
                <a:latin typeface="Segoe UI Semibold"/>
              </a:rPr>
              <a:t>Cheatsheet &amp; Quick-Reference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B8C"/>
                </a:solidFill>
                <a:latin typeface="Segoe UI"/>
              </a:rPr>
              <a:t>50+ Commands, Permission-Modi, Hook-Typen, MCP — die Referenzkarte.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218688"/>
            <a:ext cx="5257800" cy="114300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218688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355848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F0D8"/>
                </a:solidFill>
                <a:latin typeface="Segoe UI Semibold"/>
              </a:rPr>
              <a:t>Workshop-Playground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B8C"/>
                </a:solidFill>
                <a:latin typeface="Segoe UI"/>
              </a:rPr>
              <a:t>Demo-Repo mit gepflanzten Vulnerabilities (Zutrittskontrolle, OSDP/Wiegand).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218688"/>
            <a:ext cx="5257800" cy="114300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218688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355848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F0D8"/>
                </a:solidFill>
                <a:latin typeface="Segoe UI Semibold"/>
              </a:rPr>
              <a:t>Mentor-Agent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B8C"/>
                </a:solidFill>
                <a:latin typeface="Segoe UI"/>
              </a:rPr>
              <a:t>Beantwortet Konzeptfragen und verweist auf die richtige Lerneinheit.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17136"/>
            <a:ext cx="5257800" cy="114300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517136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654296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F0D8"/>
                </a:solidFill>
                <a:latin typeface="Segoe UI Semibold"/>
              </a:rPr>
              <a:t>Prerequisites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B8C"/>
                </a:solidFill>
                <a:latin typeface="Segoe UI"/>
              </a:rPr>
              <a:t>prerequisites.md — Setup, bevor Session 1 startet.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517136"/>
            <a:ext cx="5257800" cy="1143000"/>
          </a:xfrm>
          <a:prstGeom prst="rect">
            <a:avLst/>
          </a:prstGeom>
          <a:solidFill>
            <a:srgbClr val="1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517136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654296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F0D8"/>
                </a:solidFill>
                <a:latin typeface="Segoe UI Semibold"/>
              </a:rPr>
              <a:t>session-plan.md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B8C"/>
                </a:solidFill>
                <a:latin typeface="Segoe UI"/>
              </a:rPr>
              <a:t>Single Source of Truth: Ablauf, Level-Tiering, Zeiten als Pacing-Signal.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9AAB8C"/>
                </a:solidFill>
                <a:latin typeface="Consolas"/>
              </a:rPr>
              <a:t>CLAUDE CODE WORKSHOP  ·  4 Sessions / 65 Lerneinheiten  ·  session-plan.md = Single Source of Truth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36208"/>
            <a:ext cx="12191695" cy="12700"/>
          </a:xfrm>
          <a:prstGeom prst="rect">
            <a:avLst/>
          </a:prstGeom>
          <a:solidFill>
            <a:srgbClr val="2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C55E"/>
                </a:solidFill>
                <a:latin typeface="Consolas"/>
              </a:rPr>
              <a:t>● SECTOR T-1-1 · CLEARANCE GRANTED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E8F0D8"/>
                </a:solidFill>
                <a:latin typeface="Segoe UI Semibold"/>
              </a:rPr>
              <a:t>Los geht's.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566160"/>
            <a:ext cx="292608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8F0D8"/>
                </a:solidFill>
                <a:latin typeface="Segoe UI"/>
              </a:rPr>
              <a:t>Session 1 öffnet mit einem Bau-Erfolg in den ersten Minuten — </a:t>
            </a:r>
            <a:r>
              <a:rPr sz="1800" b="1">
                <a:solidFill>
                  <a:srgbClr val="F59E0B"/>
                </a:solidFill>
                <a:latin typeface="Segoe UI"/>
              </a:rPr>
              <a:t>erst bauen, dann über Clearance-Level nachdenken.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AB8C"/>
                </a:solidFill>
                <a:latin typeface="Segoe UI"/>
              </a:rPr>
              <a:t>Fragen jederzeit an den Mentor. Der Rest ist Hands-on.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9AAB8C"/>
                </a:solidFill>
                <a:latin typeface="Consolas"/>
              </a:rPr>
              <a:t>CLAUDE CODE WORKSHOP  ·  4 Sessions / 65 Lerneinheiten  ·  session-plan.md = Single Source of Truth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695" cy="12700"/>
          </a:xfrm>
          <a:prstGeom prst="rect">
            <a:avLst/>
          </a:prstGeom>
          <a:solidFill>
            <a:srgbClr val="2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