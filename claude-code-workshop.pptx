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00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01"/>
    <p:sldId id="275" r:id="rId102"/>
    <p:sldId id="276" r:id="rId103"/>
    <p:sldId id="277" r:id="rId104"/>
    <p:sldId id="278" r:id="rId105"/>
    <p:sldId id="279" r:id="rId106"/>
    <p:sldId id="280" r:id="rId107"/>
    <p:sldId id="281" r:id="rId108"/>
    <p:sldId id="282" r:id="rId109"/>
    <p:sldId id="283" r:id="rId110"/>
    <p:sldId id="284" r:id="rId111"/>
    <p:sldId id="285" r:id="rId1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4DF067-20E9-499B-9C9D-D3BAAE4B0071}">
  <a:tblStyle styleId="{244DF067-20E9-499B-9C9D-D3BAAE4B00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5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100" Type="http://schemas.openxmlformats.org/officeDocument/2006/relationships/slide" Target="slides/slide19.xml"/><Relationship Id="rId101" Type="http://schemas.openxmlformats.org/officeDocument/2006/relationships/slide" Target="slides/slide20.xml"/><Relationship Id="rId102" Type="http://schemas.openxmlformats.org/officeDocument/2006/relationships/slide" Target="slides/slide21.xml"/><Relationship Id="rId103" Type="http://schemas.openxmlformats.org/officeDocument/2006/relationships/slide" Target="slides/slide22.xml"/><Relationship Id="rId104" Type="http://schemas.openxmlformats.org/officeDocument/2006/relationships/slide" Target="slides/slide23.xml"/><Relationship Id="rId105" Type="http://schemas.openxmlformats.org/officeDocument/2006/relationships/slide" Target="slides/slide24.xml"/><Relationship Id="rId106" Type="http://schemas.openxmlformats.org/officeDocument/2006/relationships/slide" Target="slides/slide25.xml"/><Relationship Id="rId107" Type="http://schemas.openxmlformats.org/officeDocument/2006/relationships/slide" Target="slides/slide26.xml"/><Relationship Id="rId108" Type="http://schemas.openxmlformats.org/officeDocument/2006/relationships/slide" Target="slides/slide27.xml"/><Relationship Id="rId109" Type="http://schemas.openxmlformats.org/officeDocument/2006/relationships/slide" Target="slides/slide28.xml"/><Relationship Id="rId110" Type="http://schemas.openxmlformats.org/officeDocument/2006/relationships/slide" Target="slides/slide29.xml"/><Relationship Id="rId111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09728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920240" y="10058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Trebuchet MS"/>
              <a:buNone/>
            </a:pPr>
            <a:r>
              <a:rPr lang="en-US" sz="4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920240" y="16916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600"/>
              <a:buFont typeface="Trebuchet MS"/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Workshop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920240" y="2423160"/>
            <a:ext cx="2286000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920240" y="26517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Von der ersten Session zum produktiven Workflow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920240" y="3383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 </a:t>
            </a: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Foundations    </a:t>
            </a:r>
            <a:r>
              <a:rPr lang="en-US" sz="13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Block 2  </a:t>
            </a: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Ecosystem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4389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Dominic  · 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ÜBERBLICK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Worüber wir sprechen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2618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960120" y="12344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1.1  Was ist Claude Code?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14800" y="1234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Agent, nicht Chat — CLI, Desktop, 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16733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960120" y="16459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1.2  Context &amp; Memory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0" y="1645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Context Window, CLAUDE.md, Persistenz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20848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960120" y="20574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1.3  Effektives Prompting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0" y="2057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Vage vs. spezifisch, Iterative Patterns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24963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960120" y="24688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1.4  Git-Integration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Branch → Commit → PR, Worktrees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2834640"/>
            <a:ext cx="8229600" cy="91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341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2907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960120" y="2880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2.1  Skills &amp; Commands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11480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Wiederverwendbare Prompt-Templates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3319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960120" y="32918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2.2  Hooks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114800" y="3291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Deterministische Guardrails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8640" y="37307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960120" y="3703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2.3  Plugins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114800" y="3703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Paketierte Erweiterungen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8640" y="41422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960120" y="4114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2.4  MCP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114800" y="4114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Externe Systeme anbinden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8640" y="4553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960120" y="45262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2.5  RAG &amp; NotebookLM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114800" y="4526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Eigenes Wissen einbinden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FOUNDATIONS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Was ist Claude Code?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Kein Chatbot. Kein Autocomplete. Eine autonome Agent-Loop im Terminal.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1600200"/>
            <a:ext cx="2651760" cy="228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1600200"/>
            <a:ext cx="265176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783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09728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claude.ai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97280" y="2057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 Chat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40080" y="24231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Beratung per Gespräch.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Kein Dateizugriff,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keine Ausführung.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337560" y="1600200"/>
            <a:ext cx="2651760" cy="228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337560" y="1600200"/>
            <a:ext cx="265176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0440" y="1783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397764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977640" y="2057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CLI / Desktop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520440" y="24231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Voller Filesystem-Zugriff,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Bash, Git, MCP, Subagents.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in deinem System.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217920" y="1600200"/>
            <a:ext cx="2651760" cy="228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217920" y="1600200"/>
            <a:ext cx="265176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1783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685800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IDE Extension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858000" y="2057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VS Code / JetBrains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400800" y="24231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Sidecar im Editor.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Sieht dein Projekt,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macht direkte Edits.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4114800"/>
            <a:ext cx="8229600" cy="7315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31520" y="41605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800"/>
              <a:buFont typeface="Georgia"/>
              <a:buNone/>
            </a:pPr>
            <a:r>
              <a:rPr lang="en-US" sz="2800" b="0" i="0" u="none" strike="noStrike" cap="non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Claude Code is a power tool. There's no one right way to work with it.</a:t>
            </a:r>
            <a:r>
              <a:rPr lang="en-US" sz="2800" b="0" i="0" u="none" strike="noStrike" cap="non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— Boris Cherny, Creator of Claude Code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MENTALES MODELL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Security-Analogie: Drei Berater-Modi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1188720"/>
            <a:ext cx="265176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1188720"/>
            <a:ext cx="265176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9436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9728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Berater am Telefon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97280" y="1691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claude.ai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40080" y="210312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Hört zu, gibt Rat.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Berührt nichts.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 setzt selbst um.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337560" y="1188720"/>
            <a:ext cx="265176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337560" y="1188720"/>
            <a:ext cx="265176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47472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97764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Berater mit Badge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977640" y="1691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Claude Code CLI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520440" y="210312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Hat Zugang zum Gebäude.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Öffnet Türen, prüft Verkabelung,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liest Logs, konfiguriert.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217920" y="1188720"/>
            <a:ext cx="265176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217920" y="1188720"/>
            <a:ext cx="265176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35508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5800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Berater am Schreibtisch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58000" y="1691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Desktop / IDE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400800" y="210312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Gleicher Zugang,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anderes Interface.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Gleiche Arbeit, mehr Komfort.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Die Interfaces ändern sich — die Fähigkeiten bleiben gleich.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WERKZEUGE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Built-in Tools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Jedes Tool ist ein eigener Zugangsbereich — mit eigener Freigabestufe.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7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{244DF067-20E9-499B-9C9D-D3BAAE4B0071}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Funktion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Permission?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Analogie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Read, Glob, Grep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Dateien lesen, suchen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Lobby — jeder kommt rein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Edit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Dateien gezielt ändern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Büro — Wartungsbadge nötig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Write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Dateien erstellen/überschreiben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Technikraum — Freigabe nötig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Bash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Shell-Befehle ausführen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Serverraum — explizite Genehmigung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WebSearch / WebFetch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durchsuchen / abrufen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Außenbereich — Ausgangstor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Agent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Subagent spawnen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Teamleitung — delegiert intern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Skill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aufrufen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 aktivieren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9" name="Google Shape;129;p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SICHERHEIT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Permission System — 6 Stufen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1143000"/>
            <a:ext cx="7315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85800" y="11430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194560" y="1143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Nur Lesen, alles andere fragt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Besucherbadge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" y="1737360"/>
            <a:ext cx="7315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85800" y="17373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acceptEdits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194560" y="17373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Lesen + Editieren, Bash fragt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Wartungsbadge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2331720"/>
            <a:ext cx="7315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685800" y="23317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plan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194560" y="23317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Zeigt Plan, genehmigt alles auf einmal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00800" y="2331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Mission Briefing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2926080"/>
            <a:ext cx="7315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85800" y="29260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194560" y="2926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ML-Klassifier entscheidet (Team/Ent.)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Smart Badge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3520440"/>
            <a:ext cx="7315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85800" y="35204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dontAsk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194560" y="35204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Nie fragen — nur Allow/Deny-Rules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400800" y="3520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Freigegebener Auftrag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4114800"/>
            <a:ext cx="7315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85800" y="41148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bypass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194560" y="41148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Alles erlaubt (NUR in Sandboxes!)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Generalschlüssel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4572000"/>
            <a:ext cx="8229600" cy="4114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46360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Faustregel: Default-Mode beibehalten. Auto-accept nur MIT Hooks als Guardrails.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CONTEXT &amp; MEMORY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Der Context ist RAM, keine Festplatte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" y="1234440"/>
            <a:ext cx="8229600" cy="4114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57200" y="1234440"/>
            <a:ext cx="5760720" cy="4114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40080" y="1234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Kontext genutzt: ~70%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800" y="12344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1M Tokens (Opus)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Was den Context füllt: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Deine Nachrichten + Claudes Antworten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0080" y="2578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Gelesene Dateien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" y="28712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Command-Output (stdout/stderr)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" y="31638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CLAUDE.md + Memory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754880" y="1920240"/>
            <a:ext cx="3931920" cy="2377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 Management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937760" y="2423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/context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400800" y="2423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Nutzung visualisieren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937760" y="27706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/compact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800" y="27706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Proaktiv komprimieren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937760" y="31181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/clear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00800" y="311810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Context leeren (neues Thema)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937760" y="346557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/export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0" y="346557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Gespräch exportieren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937760" y="3813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claude -c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0" y="38130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Letzte Session fortsetzen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Faustregel: /compact bei &gt;80% Auslastung.  /clear bei Themenwechsel.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KONFIGURATION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CLAUDE.md — Deine Projekt-Policy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liest dieses Dokument bei jedem Sessionstart — automatisch, ohne Erinnerung.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1417320"/>
            <a:ext cx="3931920" cy="2651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Konfigurations-Hierarchie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~/.claude/CLAUDE.md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92608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(alle Projekte)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371600" y="21488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0080" y="23042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./CLAUDE.md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2926080" y="23042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Projekt (Git-tracked, Team)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371600" y="2532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40080" y="26883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./CLAUDE.local.md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2926080" y="26883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Persönlich (.gitignore!)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371600" y="2916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40080" y="30723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.claude/rules/*.md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2926080" y="30723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Pfad-spezifische Regeln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371600" y="330098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40080" y="34564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Memory System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2926080" y="34564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Auto-kuratiert, persistent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754880" y="1417320"/>
            <a:ext cx="3931920" cy="2651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Was gehört rein?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937760" y="19202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✓  Stack &amp; Versionen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937760" y="2194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✓  Coding-Konventionen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937760" y="24688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✓  Domain-Terminologie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937760" y="27432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✓  "Nie anfassen"-Regeln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937760" y="32918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Secrets / API-Keys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937760" y="35661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Temporärer Task-Kontext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937760" y="38404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Lange Dokumentation (&gt;200 Zeilen)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PROMPTING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Vage rein → Vage raus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Code prompting = Arbeitsauftrag schreiben, nicht wünschen.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1417320"/>
            <a:ext cx="3840480" cy="20116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57200" y="1417320"/>
            <a:ext cx="384048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✗  Vager Prompt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40080" y="1965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"Fix the bug"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40080" y="237744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Claude rät welcher Bug.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Ändert vielleicht das Falsche.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Kein Validierungskriterium.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754880" y="1417320"/>
            <a:ext cx="3931920" cy="20116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754880" y="1417320"/>
            <a:ext cx="393192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937760" y="1554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✓  Spezifischer Prompt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937760" y="19202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"Fix den NullPointer in auth.py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Zeile 45. LDAP-Import hat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kein Email-Feld. Null-Check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hinzufügen, Tests anpassen."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937760" y="28803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Datei, Zeile, Ursache, Fix-Strategie.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Battle-Tested Patterns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4069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"Read X first, then suggest"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017520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Grounded in echtem Code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" y="4434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"Show plan before implementing"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017520" y="44348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Checkpoint vor Änderungen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572000" y="4069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"Only change X, don't touch Y"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132320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Scope explizit begrenzen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0" y="4434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"Run tests and show output"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132320" y="44348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Verifikation eingebaut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1 · GIT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Git-Integration — Alles aus der Konversation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365760" y="1188720"/>
            <a:ext cx="1188720" cy="9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365760" y="1188720"/>
            <a:ext cx="1188720" cy="45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365760" y="13258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erstellen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554480" y="1417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783080" y="1188720"/>
            <a:ext cx="1188720" cy="9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783080" y="1188720"/>
            <a:ext cx="1188720" cy="45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1783080" y="13258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implementieren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971800" y="1417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200400" y="1188720"/>
            <a:ext cx="1188720" cy="9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3200400" y="1188720"/>
            <a:ext cx="1188720" cy="45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3200400" y="13258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/diff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reviewen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389120" y="1417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617720" y="1188720"/>
            <a:ext cx="1188720" cy="9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617720" y="1188720"/>
            <a:ext cx="1188720" cy="45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617720" y="13258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laufen lassen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806440" y="1417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035040" y="1188720"/>
            <a:ext cx="1188720" cy="9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035040" y="1188720"/>
            <a:ext cx="1188720" cy="45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035040" y="13258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&amp; Push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223760" y="1417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7452360" y="1188720"/>
            <a:ext cx="1188720" cy="9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452360" y="1188720"/>
            <a:ext cx="1188720" cy="45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452360" y="13258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erstellen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Git Worktrees — Dein Software-Testlabor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2926080"/>
            <a:ext cx="3931920" cy="18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Ohne Worktree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40080" y="33375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stash → branch wechseln → fix →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commit → push → unstash →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weiterarbeiten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Schritte, Kontextverlust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754880" y="2926080"/>
            <a:ext cx="3931920" cy="18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Mit Worktree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937760" y="33375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-w hotfix-branch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Fix in isoliertem Verzeichnis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Dein Feature-Branch bleibt unberührt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Schritt, null Kontextverlust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/>
          <p:nvPr/>
        </p:nvSpPr>
        <p:spPr>
          <a:xfrm>
            <a:off x="0" y="0"/>
            <a:ext cx="9144000" cy="731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0480" y="11887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3"/>
          <p:cNvSpPr/>
          <p:nvPr/>
        </p:nvSpPr>
        <p:spPr>
          <a:xfrm>
            <a:off x="0" y="2743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Block 2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0" y="3337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Das Ökosystem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Skills  ·  Hooks  ·  Plugins  ·  MCP  ·  RAG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2 · SKILLS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= SOPs für die AI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Wiederverwendbare Instruktionen in Markdown — statt Copy-Paste jede Session.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57200" y="1417320"/>
            <a:ext cx="457200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640080" y="15087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.claude/skills/review/SKILL.md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0080" y="1810512"/>
            <a:ext cx="4206240" cy="242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name: review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description: Security-Code-Review.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Trigger: "review", "check code"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allowed-tools: Read, Grep, Glob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# Code Review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Prüfe auf: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1. SQL Injection, XSS, Auth Bypass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2. Fehlende Input-Validierung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3. Hardcoded Secrets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Ausgabe als Tabelle: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Severity | File | Line | Issue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303520" y="1417320"/>
            <a:ext cx="3383280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5303520" y="1417320"/>
            <a:ext cx="54864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5" name="Google Shape;325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/>
          <p:nvPr/>
        </p:nvSpPr>
        <p:spPr>
          <a:xfrm>
            <a:off x="5897880" y="15544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Auto-Aktivierung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532120" y="196596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matcht die Description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gegen deine Aufgabe — kein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expliziter Aufruf nötig.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303520" y="2651760"/>
            <a:ext cx="3383280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5303520" y="2651760"/>
            <a:ext cx="54864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2834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4"/>
          <p:cNvSpPr/>
          <p:nvPr/>
        </p:nvSpPr>
        <p:spPr>
          <a:xfrm>
            <a:off x="5897880" y="27889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allowed-tools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5532120" y="32004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Principle of Least Privilege: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Ein Review-Skill braucht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kein Write oder Edit.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User: </a:t>
            </a: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~/.claude/skills/  </a:t>
            </a: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Projekt: </a:t>
            </a: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.claude/skills/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2 · HOOKS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Hooks — Deterministisch, nicht probabilistisch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57200" y="1143000"/>
            <a:ext cx="3840480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457200" y="1143000"/>
            <a:ext cx="64008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68580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CLAUDE.md-Instruktion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685800" y="155448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"Bitte keine Secrets committen"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Claude könnte es trotzdem tun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Probabilistisch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4754880" y="1143000"/>
            <a:ext cx="3931920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4754880" y="1143000"/>
            <a:ext cx="64008" cy="10972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98348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PreToolUse Hook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4983480" y="15544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exit 1 → Aktion blockiert. Garantiert.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Deterministisch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Feuert IMMER, ohne Erinnerung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57200" y="2468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Hook-Events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2" name="Google Shape;352;p15"/>
          <p:cNvGraphicFramePr/>
          <p:nvPr/>
        </p:nvGraphicFramePr>
        <p:xfrm>
          <a:off x="457200" y="278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{244DF067-20E9-499B-9C9D-D3BAAE4B0071}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Wann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Kann blockieren?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Analogie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8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PreToolUse</a:t>
                      </a:r>
                      <a:endParaRPr sz="9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Vor jeder Tool-Nutzung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 ✓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Kartenleser — prüft vor Türöffnung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PostToolUse</a:t>
                      </a:r>
                      <a:endParaRPr sz="9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Nach Tool-Nutzung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Türsensor — loggt nach Durchgang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SessionStart</a:t>
                      </a:r>
                      <a:endParaRPr sz="9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 beginnt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Schichtbeginn-Briefing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UserPromptSubmit</a:t>
                      </a:r>
                      <a:endParaRPr sz="9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User-Input kommt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 ✓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Eingangskontrolle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Stop</a:t>
                      </a:r>
                      <a:endParaRPr sz="9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ist fertig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Schichtende-Alarm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Notification</a:t>
                      </a:r>
                      <a:endParaRPr sz="9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benachrichtigt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Alarmmeldung weiterleiten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41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3" name="Google Shape;353;p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2 · PLUGINS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Plugins — npm für AI-Workflows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57200" y="1143000"/>
            <a:ext cx="411480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Plugin-Struktur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640080" y="160020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my-plugin/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├── plugin.json        # Manifest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├── skills/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│   └── review/SKILL.md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├── agents/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│   └── security.md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├── commands/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│   └── audit.md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├── hooks/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│   └── hooks.json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└── .mcp.json          # Bundled MCP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846320" y="1143000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4846320" y="1143000"/>
            <a:ext cx="54864" cy="137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7" name="Google Shape;367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6"/>
          <p:cNvSpPr/>
          <p:nvPr/>
        </p:nvSpPr>
        <p:spPr>
          <a:xfrm>
            <a:off x="5440680" y="12801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Scopes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074920" y="16916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  → Persönliches Toolkit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→ Team (Git-tracked)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 → Nicht geteilt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managed → Enterprise-Admin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4846320" y="2697480"/>
            <a:ext cx="384048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4846320" y="269748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" name="Google Shape;372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28803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/>
          <p:nvPr/>
        </p:nvSpPr>
        <p:spPr>
          <a:xfrm>
            <a:off x="5440680" y="28346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Chain Risk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074920" y="324612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Plugin-Code reviewen vor Install.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Versionen pinnen. Executables 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bin/ laufen mit deinen Rechten.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claude plugin install &lt;source&gt;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0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claude --plugin-dir ./my-plugin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2 · MCP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MCP — USB-C für AI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Offener Standard — verbindet Claude mit Datenbanken, APIs, Browsern, Messaging.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457200" y="1417320"/>
            <a:ext cx="265176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457200" y="141732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8" name="Google Shape;38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/>
          <p:nvPr/>
        </p:nvSpPr>
        <p:spPr>
          <a:xfrm>
            <a:off x="1051560" y="155448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Playwright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8580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Browser-Automatisierung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Navigation, Klicks, Screenshots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337560" y="1417320"/>
            <a:ext cx="265176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3337560" y="141732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044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7"/>
          <p:cNvSpPr/>
          <p:nvPr/>
        </p:nvSpPr>
        <p:spPr>
          <a:xfrm>
            <a:off x="3931920" y="155448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GitHub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356616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Issues, PRs, Repos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Code-Review-Integration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6217920" y="1417320"/>
            <a:ext cx="265176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6217920" y="141732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8" name="Google Shape;398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7"/>
          <p:cNvSpPr/>
          <p:nvPr/>
        </p:nvSpPr>
        <p:spPr>
          <a:xfrm>
            <a:off x="6812280" y="155448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Postgres / SQLite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644652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Datenbank-Queries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Reports direkt aus DB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57200" y="2788920"/>
            <a:ext cx="265176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457200" y="278892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7"/>
          <p:cNvSpPr/>
          <p:nvPr/>
        </p:nvSpPr>
        <p:spPr>
          <a:xfrm>
            <a:off x="1051560" y="292608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Slack / Discord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685800" y="3337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Nachrichten lesen/senden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Team-Benachrichtigungen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3337560" y="2788920"/>
            <a:ext cx="265176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3337560" y="278892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8" name="Google Shape;408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2044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7"/>
          <p:cNvSpPr/>
          <p:nvPr/>
        </p:nvSpPr>
        <p:spPr>
          <a:xfrm>
            <a:off x="3931920" y="292608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3566160" y="3337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Aktuelle Library-Docs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Verhindert Halluzinationen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217920" y="2788920"/>
            <a:ext cx="265176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6217920" y="2788920"/>
            <a:ext cx="54864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3" name="Google Shape;413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7"/>
          <p:cNvSpPr/>
          <p:nvPr/>
        </p:nvSpPr>
        <p:spPr>
          <a:xfrm>
            <a:off x="6812280" y="292608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Custom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6446520" y="3337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Eigene APIs exponieren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Internes Tooling anbinden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57200" y="4343400"/>
            <a:ext cx="822960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7" name="Google Shape;417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0080" y="44531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1005840" y="43434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MCP-Server haben Zugriff auf echte Daten. Token-Scope minimieren. OAuth bevorzugen. Prompt Injection beachten.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2 ·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Eigenes Wissen einbinden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457200" y="1143000"/>
            <a:ext cx="4023360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457200" y="1143000"/>
            <a:ext cx="54864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640080" y="12801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143000" y="12801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@file-Imports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685800" y="16916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Datei direkt in Context laden.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@docs/api-spec.yaml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Einfachster Weg.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4754880" y="1143000"/>
            <a:ext cx="4023360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4754880" y="1143000"/>
            <a:ext cx="54864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4937760" y="12801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4937760" y="1280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5440680" y="12801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MCP-basiertes RAG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4983480" y="16916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Datenbank als Wissensbasis.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feuert SQL-Queries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gegen deine Doku-DB.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457200" y="2606040"/>
            <a:ext cx="4023360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57200" y="2606040"/>
            <a:ext cx="54864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640080" y="27432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143000" y="2743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NotebookLM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685800" y="31546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Google-RAG-Tool. PDFs, URLs,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Docs hochladen. Antworten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mit Quellenverweisen.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4754880" y="2606040"/>
            <a:ext cx="4023360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4754880" y="2606040"/>
            <a:ext cx="54864" cy="1280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4937760" y="27432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4937760" y="2743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5440680" y="2743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Explore-Subagent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4983480" y="31546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Built-in Codebase-RAG.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Read-only, eigener Context.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Hält Haupt-Session sauber.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Von 'smart generalist' zu 'expert in unserem Stack' — ohne Fine-Tuning.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9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BLOCK 2 · ZUSAMMENFASSUNG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Der Ökosystem-Stack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914400" y="1097280"/>
            <a:ext cx="731520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914400" y="1097280"/>
            <a:ext cx="73152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1143000" y="109728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RAG / NotebookLM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3474720" y="10972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Dein verifiziertes Wissen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051560" y="1737360"/>
            <a:ext cx="704088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1051560" y="1737360"/>
            <a:ext cx="73152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1280160" y="17373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MCP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3611880" y="173736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Externe Systeme (Browser, DB, Slack, APIs)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1188720" y="2377440"/>
            <a:ext cx="676656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1188720" y="2377440"/>
            <a:ext cx="73152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1417320" y="23774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Plugins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3749040" y="237744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Paketierte Team-Capabilities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1325880" y="3017520"/>
            <a:ext cx="64922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1325880" y="3017520"/>
            <a:ext cx="73152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1554480" y="3017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Hooks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3886200" y="30175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Deterministische Guardrails (PreToolUse, PostToolUse)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1463040" y="3657600"/>
            <a:ext cx="621792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1463040" y="3657600"/>
            <a:ext cx="73152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1691640" y="36576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&amp; Commands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4023360" y="36576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Wiederverwendbare Workflows &amp; Auslöser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600200" y="4297680"/>
            <a:ext cx="594360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1600200" y="4297680"/>
            <a:ext cx="73152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1828800" y="429768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 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4160520" y="42976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Read · Write · Edit · Bash · Git · Agent · WebSearch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Jede Schicht erweitert die Reichweite — von persönlicher Automatisierung bis Systemintegration.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/>
          <p:nvPr/>
        </p:nvSpPr>
        <p:spPr>
          <a:xfrm>
            <a:off x="0" y="0"/>
            <a:ext cx="9144000" cy="731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400"/>
              <a:buFont typeface="Trebuchet MS"/>
              <a:buNone/>
            </a:pPr>
            <a:r>
              <a:rPr lang="en-US" sz="3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Wo fange ich an?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2103120" y="167335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2103120" y="16733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2606040" y="16459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Claude Code in bestehendem Projekt starten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2103120" y="217627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2103120" y="21762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2606040" y="21488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CLAUDE.md schreiben (Stack, Konventionen, No-Go-Zonen)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2103120" y="267919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2103120" y="26791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2606040" y="26517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Einen Skill bauen (häufigstes wiederholtes Prompt)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2103120" y="318211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2103120" y="31821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2606040" y="31546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Safety Hook einrichten (rm -rf, force push blockieren)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2103120" y="368503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2103120" y="36850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2606040" y="3657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MCP-Server hinzufügen (GitHub ist der einfachste)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2103120" y="418795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2103120" y="41879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2606040" y="41605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Erst dann: Subagents, Plugins, Agent Teams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2011680" y="4572000"/>
            <a:ext cx="5120640" cy="91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341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code.claude.com/docs  ·  github.com/anthropics/awesome-claude-code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BLOCK 1 - FOUNDATIONS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Cost Engineering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Kosten sind ein Architekturparameter, kein Nachgedanke.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Budget-Gate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--max-budget-usd und --max-turns begrenzen autonome Loops.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Effort-Strategie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low fuer Routine, xhigh fuer Risiko. Nicht alles braucht Maximum.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Team-Sicht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/cost lokal, Console fuer Aggregate, klare Tageslimits.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11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BLOCK 3 - ADVANCED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Vom Werkzeug zum System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Agents, Multi-Model, Security, Automation, CI/CD und Debugging als zusammenhaengender Workflow.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Orchestrieren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Mehrere Agents arbeiten getrennt, aber mit gemeinsamer Zieldefinition.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Absichern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Permissions, Sandboxing, Reviews und Audit Trails halten die Kontrolle beim Team.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Produktivieren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Headless Mode, CI/CD und Troubleshooting machen es wiederholbar.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3.1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Agents &amp; Multi-Agent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Nicht ein grosser Agent, sondern spezialisierte Rollen mit klaren Grenzen.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Explorer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liest, kartiert, liefert Evidenz.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Worker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implementiert in klarer Ownership.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Reviewer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sucht Risiken, Drift und fehlende Checks.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3.2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Multi-Model Pipelines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Das teure Modell plant nicht jede Schraube. Das kleine Modell muss nicht die Architektur tragen.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Plan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starkes Modell fuer Ambiguitaet und Architektur.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Implement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schnelles Modell fuer abgegrenzte Codearbeit.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kritischer zweiter Blick mit anderem Bias.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3.3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Security &amp; Adversarial Testing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Security-Analogie: der Agent ist ein externer Techniker mit Badge, Werkzeugkoffer und Auditpflicht.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Permission Rules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erlauben, blocken, nachfragen - explizit statt Hoffnung.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Sandboxing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Netz, Filesystem und Secrets als getrennte Zonen denken.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Adversarial Review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Devil-Advocate reduziert blinde Flecken, ersetzt aber keine Freigabe.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3.4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Automation &amp; Scheduled Work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Wiederholbare Agentenarbeit braucht Stop-Regeln, Budget und menschliche Tore.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/goal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Zielorientierte Loop mit Fortschrittskontrolle.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Routines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Wiederkehrende Wartung statt Einmal-Prompt.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Safety Gates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kein autonomes Firmware-Update ohne Approval.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3.6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CI/CD &amp; Headless Mode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Claude Code als Pipeline-Stage: JSON rein, JSON raus, Kosten gedeckelt.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claude -p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Headless Prompt fuer PR-Checks, Migrationen und Audits.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Structured Output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--output-format json und Schema fuer maschinenlesbare Gates.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Runner Security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Secrets masked, Token Rotation, Bedrock/Vertex fuer Hochsicherheit.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3.7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Troubleshooting &amp; Debugging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Wenn etwas bricht: erst Sichtbarkeit, dann Hypothese, dann kleinster reproduzierbarer Check.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/doctor + --verbose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Umgebung, Auth, Tool-Output und Fehlerpfade sichtbar machen.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Hook Debugging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Exit Codes, Matcher, JSON und Timing getrennt pruefen.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Memory Drift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Auto-Memory lesen, Quellen trennen, stale Regeln entfernen.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MODULE 3.5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Capstone: Workflow Architecture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Die Teilnehmer entwerfen ihren eigenen Agenten-Workflow fuer ein Physical-Security-Szenario.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Whiteboard zuerst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System, Grenzen, Freigaben, Logs und Eskalation zeichnen.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Remote optional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/remote-control zeigen, Telegram nur als Bonus.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Worktrees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Parallelisierung ohne das Hauptprojekt zu beschaedigen.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SESSION 3 RUN SHEET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Didaktische Reihenfolge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Die neue Sequenz bringt Produktion und Debugging vor den Capstone.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0:00-1:20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Agents, Multi-Model, Security, Automation.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1:35-2:05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CI/CD und Troubleshooting als Produktionsbruecke.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2:05-3:00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Capstone: Architecture Discussion mit klaren Guardrails.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WEBSITE + REPO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Schaufenster und Beleg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Die Website erklaert die Story. Das Repo zeigt die ausfuehrbaren Materialien.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Website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kuratierter Ueberblick und Arbeitsprobe: dynamic-dome.com/workshop.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Repo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Module, Demos, Exercises, Mentor-Agent und Playground.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Reviewer-Pfad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Session-Plan, Module, Demos, Tests, dann Deck.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00">
                <a:solidFill>
                  <a:srgbClr val="38BDF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" name="kicker"/>
          <p:cNvSpPr/>
          <p:nvPr/>
        </p:nvSpPr>
        <p:spPr>
          <a:xfrm>
            <a:off x="548640" y="438912"/>
            <a:ext cx="4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DRY RUN CHECKLIST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70000"/>
            <a:ext cx="8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Vor Session 2/3 pruefen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51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750">
                <a:solidFill>
                  <a:srgbClr val="CBD5E1"/>
                </a:solidFill>
                <a:latin typeface="Aptos"/>
                <a:ea typeface="Aptos"/>
                <a:cs typeface="Aptos"/>
              </a:rPr>
              <a:t>Ein guter Live-Workshop scheitert nicht an Setup-Drift.</a:t>
            </a:r>
          </a:p>
        </p:txBody>
      </p:sp>
      <p:sp>
        <p:nvSpPr>
          <p:cNvPr id="10" name="card 1"/>
          <p:cNvSpPr/>
          <p:nvPr/>
        </p:nvSpPr>
        <p:spPr>
          <a:xfrm>
            <a:off x="54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Deck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visueller Einstieg deckt 17 Module ab.</a:t>
            </a:r>
          </a:p>
        </p:txBody>
      </p:sp>
      <p:sp>
        <p:nvSpPr>
          <p:cNvPr id="11" name="card 2"/>
          <p:cNvSpPr/>
          <p:nvPr/>
        </p:nvSpPr>
        <p:spPr>
          <a:xfrm>
            <a:off x="330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Demos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je Session mindestens 2 Must-Do-Demos einmal live durchspielen.</a:t>
            </a:r>
          </a:p>
        </p:txBody>
      </p:sp>
      <p:sp>
        <p:nvSpPr>
          <p:cNvPr id="12" name="card 3"/>
          <p:cNvSpPr/>
          <p:nvPr/>
        </p:nvSpPr>
        <p:spPr>
          <a:xfrm>
            <a:off x="6068640" y="2320000"/>
            <a:ext cx="2500000" cy="154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Fallbacks</a:t>
            </a:r>
          </a:p>
          <a:p>
            <a:pPr marL="0" indent="0">
              <a:buNone/>
            </a:pPr>
            <a:r>
              <a:rPr lang="de-DE" sz="140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Recovery Notes, offline Pfade und Budget-Caps vorbereitet.</a:t>
            </a:r>
          </a:p>
        </p:txBody>
      </p:sp>
      <p:sp>
        <p:nvSpPr>
          <p:cNvPr id="30" name="footer"/>
          <p:cNvSpPr/>
          <p:nvPr/>
        </p:nvSpPr>
        <p:spPr>
          <a:xfrm>
            <a:off x="8050000" y="4700000"/>
            <a:ext cx="7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21920" rIns="182880" bIns="121920">
            <a:normAutofit/>
          </a:bodyPr>
          <a:lstStyle/>
          <a:p>
            <a:pPr marL="0" indent="0">
              <a:buNone/>
            </a:pPr>
            <a:r>
              <a:rPr lang="de-DE" sz="1100">
                <a:solidFill>
                  <a:srgbClr val="94A3B8"/>
                </a:solidFill>
                <a:latin typeface="Aptos"/>
                <a:ea typeface="Aptos"/>
                <a:cs typeface="Aptos"/>
              </a:rPr>
              <a:t>29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1567</Words>
  <Application>Microsoft Office PowerPoint</Application>
  <PresentationFormat>Bildschirmpräsentation (16:9)</PresentationFormat>
  <Paragraphs>427</Paragraphs>
  <Slides>30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Georgia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Dominic Meiser</dc:creator>
  <cp:lastModifiedBy>Dominic Meiser</cp:lastModifiedBy>
  <cp:revision>1</cp:revision>
  <dcterms:modified xsi:type="dcterms:W3CDTF">2026-04-10T22:13:48Z</dcterms:modified>
</cp:coreProperties>
</file>