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Willkommen. Diese Bibliothek ersetzt den linearen Kurs: Du musst nicht alles durcharbeiten. Eine kurze Einstufung zeigt, welche Kapitel zu deinem Stand und Ziel 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Denkmodell zuerst: Ein Chat berät, ein Coding-Agent handelt in deiner Umgebung. Jede Freigabe hat echte Folgen — deshalb gehören Rechte-Modi, Hooks und das Prüfen von Ergebnissen zum Grundhandwerk.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Einstiege, je nach Zeit und Vorlieben. Alle drei führen in dieselben Kapitel.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Einstufung fragt nach Verhalten, nicht nach Wissen, weil Selbsteinschätzung zu Überschätzung neigt. Weiß nicht ist eine gute Antwort. Mini-Szenarien sind freiwillig und unbenotet. Sicherheitskapitel fallen nie unter Überfliegen, außer du entscheidest es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Gebäudeplan: Stockwerke sind Themenzonen, Räume sind Regale, jede Tür ist ein Kapitel. Im Cockpit zeigt die Farbe deiner Türen deine Empfehlung.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Neun Kapitel empfehlen wir allen, auch Fortgeschrittenen, mindestens zum Überfliegen. Das Wichtigste: Von den Exit-Codes blockt nur 2, ein abstürzender Hook lässt die Aktion im Standard durch (mit onFailure block blockt er). Und claude -p ohne --bare führt die Hooks eines fremden Repos 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1 beginnt mit einem Bau-Erfolg in den ersten Minuten, danach die Rechte-Modi als Zutrittsebenen.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2: Erweitern mit Kontrolle. Merksatz für Hooks: von den Exit-Codes blockt nur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3: Agenten spezialisieren, gegenprüfen lassen, autonome Läufe begrenzen.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4: Claude als Pipeline-Stufe, das Abschlussprojekt und die Fehlersuche, die alle brauchen.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wichtigste Gewohnheit im Umgang mit Agenten: Ergebnisse selbst prüfen. Tests selbst laufen lassen, Diffs lesen, bei wichtigen Änderungen einen unabhängigen Gegenprüfer einsetzen.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Lernen mit Claude Code über Claude Code: Der Tutor stuft ein, führt Kapitel für Kapitel und fragt mit Abstand ab. Angelehnt an Matt Pococks Skill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 Abschluss die drei Einstiege noch einmal. Fragen gehen an den Mentor-Agenten oder an die offizielle Doku.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0" y="146304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47888" y="146304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5AA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06256" y="146304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64624" y="146304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22992" y="146304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FB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81360" y="146304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233172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233172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06256" y="233172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64624" y="233172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22992" y="233172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81360" y="233172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5AA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320040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320040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06256" y="320040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FB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64624" y="320040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22992" y="320040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5AA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881360" y="320040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406908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406908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FB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06256" y="406908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64624" y="406908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22992" y="406908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881360" y="406908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493776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47888" y="493776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06256" y="493776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5AA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4624" y="493776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222992" y="493776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81360" y="4937760"/>
            <a:ext cx="512064" cy="658368"/>
          </a:xfrm>
          <a:prstGeom prst="roundRect">
            <a:avLst>
              <a:gd name="adj" fmla="val 12000"/>
            </a:avLst>
          </a:prstGeom>
          <a:solidFill>
            <a:srgbClr val="2FB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1371600"/>
            <a:ext cx="6583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E9EDF1"/>
                </a:solidFill>
                <a:latin typeface="Calibri"/>
              </a:rPr>
              <a:t>Claude Code</a:t>
            </a:r>
          </a:p>
          <a:p>
            <a:pPr algn="l"/>
            <a:r>
              <a:rPr sz="4800" b="1" i="0">
                <a:solidFill>
                  <a:srgbClr val="E9EDF1"/>
                </a:solidFill>
                <a:latin typeface="Calibri"/>
              </a:rPr>
              <a:t>Praxisbibliothek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4612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B4BEC8"/>
                </a:solidFill>
                <a:latin typeface="Calibri"/>
              </a:rPr>
              <a:t>Lernen nach deinem Stand — von der ersten Datei bis zur abgesicherten Agenten-Pipeline.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805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0A526"/>
                </a:solidFill>
                <a:latin typeface="Calibri"/>
              </a:rPr>
              <a:t>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Kapitel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4805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0A526"/>
                </a:solidFill>
                <a:latin typeface="Calibri"/>
              </a:rPr>
              <a:t>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212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Regale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44805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0A526"/>
                </a:solidFill>
                <a:latin typeface="Calibri"/>
              </a:rPr>
              <a:t>28 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212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Gesamtumfang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4805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0A526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5212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Live-Sessions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Denkmodell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Ein Agent handelt — du gibst frei und prüfst.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645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Auftrag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Ziel, Grenzen, Prüfschritt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3246120"/>
            <a:ext cx="292608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44368" y="265176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2651760"/>
            <a:ext cx="1645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Plan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lesen, vorschlagen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3246120"/>
            <a:ext cx="292608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48656" y="265176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85816" y="2651760"/>
            <a:ext cx="1645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Werkzeug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Read, Edit, Bash 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14616" y="3246120"/>
            <a:ext cx="292608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52944" y="265176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0104" y="2651760"/>
            <a:ext cx="1645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Freigabe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Rechte-Modus entscheidet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18904" y="3246120"/>
            <a:ext cx="292608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57232" y="265176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4392" y="2651760"/>
            <a:ext cx="1645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Ergebnis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Diff, Ausgabe, Tests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247120" y="3931920"/>
            <a:ext cx="0" cy="73152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66560" y="466344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 w="15875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663440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Du prüfst selbst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Ein grüner Bericht beweist nichts, ausgeführter Code schon.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4BEC8"/>
                </a:solidFill>
                <a:latin typeface="Calibri"/>
              </a:rPr>
              <a:t>Chat: </a:t>
            </a:r>
            <a:r>
              <a:rPr sz="1800" b="0" i="0">
                <a:solidFill>
                  <a:srgbClr val="B4BEC8"/>
                </a:solidFill>
                <a:latin typeface="Calibri"/>
              </a:rPr>
              <a:t>gibt Ratschläge, du setzt um.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4BEC8"/>
                </a:solidFill>
                <a:latin typeface="Calibri"/>
              </a:rPr>
              <a:t>Agent: </a:t>
            </a:r>
            <a:r>
              <a:rPr sz="1800" b="0" i="0">
                <a:solidFill>
                  <a:srgbClr val="B4BEC8"/>
                </a:solidFill>
                <a:latin typeface="Calibri"/>
              </a:rPr>
              <a:t>setzt um, du steuerst die Freigaben.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Einstieg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Drei Wege in die Bibliothek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0A526"/>
                </a:solidFill>
                <a:latin typeface="Calibri"/>
              </a:rPr>
              <a:t>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9EDF1"/>
                </a:solidFill>
                <a:latin typeface="Calibri"/>
              </a:rPr>
              <a:t>Einstufung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4BEC8"/>
                </a:solidFill>
                <a:latin typeface="Calibri"/>
              </a:rPr>
              <a:t>Ziel, Zeit, was du schon kannst. Ergebnis: dein Pfad in Etappen.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onsolas"/>
              </a:rPr>
              <a:t>Cockpit, Tutor oder</a:t>
            </a:r>
          </a:p>
          <a:p>
            <a:pPr algn="l"/>
            <a:r>
              <a:rPr sz="1400" b="0" i="0">
                <a:solidFill>
                  <a:srgbClr val="8F9BA7"/>
                </a:solidFill>
                <a:latin typeface="Consolas"/>
              </a:rPr>
              <a:t>einstufung.md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0A526"/>
                </a:solidFill>
                <a:latin typeface="Calibri"/>
              </a:rPr>
              <a:t>8 Pfade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9EDF1"/>
                </a:solidFill>
                <a:latin typeface="Calibri"/>
              </a:rPr>
              <a:t>Fertiger Pfad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118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4BEC8"/>
                </a:solidFill>
                <a:latin typeface="Calibri"/>
              </a:rPr>
              <a:t>Schnellstart, ein Pfad je Ziel oder die vier Live-Sessions.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8920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onsolas"/>
              </a:rPr>
              <a:t>resources/paths/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0A526"/>
                </a:solidFill>
                <a:latin typeface="Calibri"/>
              </a:rPr>
              <a:t>71 Kapitel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9EDF1"/>
                </a:solidFill>
                <a:latin typeface="Calibri"/>
              </a:rPr>
              <a:t>Stöbern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118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4BEC8"/>
                </a:solidFill>
                <a:latin typeface="Calibri"/>
              </a:rPr>
              <a:t>Regale als Gebäudeplan. Jedes Kapitel beginnt mit einem Schnellcheck.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920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onsolas"/>
              </a:rPr>
              <a:t>resources/library/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Einstufung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In fünf Minuten zum persönlichen Pfad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Keine Noten. Das Ergebnis ist eine Empfehlung, die du jederzeit änderst.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1847088" cy="11430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57276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1  Ziel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7 Ziele, höchstens zwei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32888" y="3131820"/>
            <a:ext cx="256032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2560320"/>
            <a:ext cx="1847088" cy="11430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560320"/>
            <a:ext cx="157276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2  Warum + Zeit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Sitzungslänge oder Schnellstart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7448" y="3131820"/>
            <a:ext cx="256032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0" y="2560320"/>
            <a:ext cx="1847088" cy="11430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60320"/>
            <a:ext cx="157276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3  Stand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14 Bereiche, Verhaltensfragen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2008" y="3131820"/>
            <a:ext cx="256032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2560320"/>
            <a:ext cx="1847088" cy="11430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560320"/>
            <a:ext cx="157276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4  Szenarien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6 Stolpersteine, freiwillig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16568" y="3131820"/>
            <a:ext cx="256032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2560320"/>
            <a:ext cx="1847088" cy="11430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560320"/>
            <a:ext cx="157276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Mein Pfad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Etappen mit Begründung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4BEC8"/>
                </a:solidFill>
                <a:latin typeface="Calibri"/>
              </a:rPr>
              <a:t>Je Kapitel ein Status mit Begründung: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800600"/>
            <a:ext cx="256032" cy="256032"/>
          </a:xfrm>
          <a:prstGeom prst="ellipse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1"/>
                </a:solidFill>
                <a:latin typeface="Calibri"/>
              </a:rPr>
              <a:t>durcharbeiten</a:t>
            </a:r>
          </a:p>
        </p:txBody>
      </p:sp>
      <p:sp>
        <p:nvSpPr>
          <p:cNvPr id="22" name="Oval 21"/>
          <p:cNvSpPr/>
          <p:nvPr/>
        </p:nvSpPr>
        <p:spPr>
          <a:xfrm>
            <a:off x="3017520" y="4800600"/>
            <a:ext cx="256032" cy="256032"/>
          </a:xfrm>
          <a:prstGeom prst="ellipse">
            <a:avLst/>
          </a:prstGeom>
          <a:solidFill>
            <a:srgbClr val="5AA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754880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1"/>
                </a:solidFill>
                <a:latin typeface="Calibri"/>
              </a:rPr>
              <a:t>überfliegen</a:t>
            </a:r>
          </a:p>
        </p:txBody>
      </p:sp>
      <p:sp>
        <p:nvSpPr>
          <p:cNvPr id="24" name="Oval 23"/>
          <p:cNvSpPr/>
          <p:nvPr/>
        </p:nvSpPr>
        <p:spPr>
          <a:xfrm>
            <a:off x="5394960" y="4800600"/>
            <a:ext cx="256032" cy="256032"/>
          </a:xfrm>
          <a:prstGeom prst="ellipse">
            <a:avLst/>
          </a:prstGeom>
          <a:solidFill>
            <a:srgbClr val="8F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4754880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1"/>
                </a:solidFill>
                <a:latin typeface="Calibri"/>
              </a:rPr>
              <a:t>Schnellcheck reicht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4800600"/>
            <a:ext cx="256032" cy="256032"/>
          </a:xfrm>
          <a:prstGeom prst="ellipse">
            <a:avLst/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754880"/>
            <a:ext cx="1920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1"/>
                </a:solidFill>
                <a:latin typeface="Calibri"/>
              </a:rPr>
              <a:t>später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F9BA7"/>
                </a:solidFill>
                <a:latin typeface="Calibri"/>
              </a:rPr>
              <a:t>Etappen folgen immer der Lehrreihenfolge; die Zeitangabe schneidet sie in Sitzungen. Voraussetzungen kommen automatisch mit.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Bibliothek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Der Gebäudeplan: Zonen, Regale, Kapitel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Grundlagen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645920"/>
            <a:ext cx="1444752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1709928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Erste Schritte &amp; Denkmodell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194560"/>
            <a:ext cx="1298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5 Kapitel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7912" y="1645920"/>
            <a:ext cx="1444752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352" y="1709928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Rechte &amp; Freigaben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2" y="2194560"/>
            <a:ext cx="1298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4 Kapitel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4104" y="1645920"/>
            <a:ext cx="1444752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95544" y="1709928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Kontext &amp; Gedächtnis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2194560"/>
            <a:ext cx="1298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5 Kapitel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0296" y="1645920"/>
            <a:ext cx="1444752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1736" y="1709928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Aufträge formulieren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194560"/>
            <a:ext cx="1298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 Kapitel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1645920"/>
            <a:ext cx="1444752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709928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Git &amp; Worktrees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194560"/>
            <a:ext cx="1298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 Kapitel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645920"/>
            <a:ext cx="1444752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1709928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Modelle &amp; Kosten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194560"/>
            <a:ext cx="1298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 Kapitel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825496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Erweitern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2596896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2660904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Skills &amp; Commands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145536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5 Kapitel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2596896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2660904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145536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5 Kapitel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2596896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660904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Plugins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145536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 Kapitel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2596896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660904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MCP &amp; Wissensquellen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145536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6 Kapitel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7647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Fortgeschritten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20" y="3547872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3611880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Agenten &amp; Orchestrierung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409651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6 Kapitel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3547872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3611880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Gegenprüfung &amp;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409651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4 Kapitel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3547872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3611880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Automation &amp; Loops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09651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 Kapitel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3547872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3611880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Headless &amp; CI/CD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409651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 Kapitel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46920" y="3547872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3611880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Remote, Docker, Isolation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409651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 Kapitel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72744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Betrieb &amp; Abschluss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31720" y="4498848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23160" y="4562856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Fehlersuche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5047488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 Kapitel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60520" y="4498848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60" y="4562856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Abschlussprojekt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60" y="5047488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 Kapitel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78424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Begleitend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31720" y="5449824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23160" y="5513832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Praxis-Stationen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23160" y="5998464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 Kapitel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60520" y="5449824"/>
            <a:ext cx="1737360" cy="841248"/>
          </a:xfrm>
          <a:prstGeom prst="roundRect">
            <a:avLst>
              <a:gd name="adj" fmla="val 4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51960" y="5513832"/>
            <a:ext cx="15910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alibri"/>
              </a:rPr>
              <a:t>Community &amp; Lernen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51960" y="5998464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4 Kapitel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Sicherheitsboden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9 Kapitel, die niemand auslässt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Wer ein Feature nutzt, liest dessen Sicherheitskapitel — auch ohne passendes Ziel.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Rechte im Alltag: default und acceptEdits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7744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514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S1.6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8346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Alle Rechte-Modi im Überblick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514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S2.8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Einen Hook einrichten, der wirklich blockt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S2.13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Lieferkettenrisiken bei Plugins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61188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49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S2.17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6908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MCP-Sicherheit und ein eigener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1188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49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S3.8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6908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Rechte für autonome Läufe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S3.9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Geschützte Pfade und Sandbox-Stufen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84632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983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S3.13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3035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Autonome Loops absichern: Budget und Worktree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846320"/>
            <a:ext cx="3474720" cy="10515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983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onsolas"/>
              </a:rPr>
              <a:t>S4.4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3035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DF1"/>
                </a:solidFill>
                <a:latin typeface="Calibri"/>
              </a:rPr>
              <a:t>CI-Zugangsdaten, Kostengrenzen und Kosten-Feinschliff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Session 1 · 20 Kapitel · Kern 4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Erste Schritte mit dem Agenten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Bauen, verstehen, steuern: Werkstatt, Rechte, Kontext, Aufträge, Git, Kosten.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Erste Schritte &amp; Denkmodell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28600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S1.1–S1.4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8600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Rechte &amp; Freigaben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98064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S1.5, S1.6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79806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Modelle &amp; Kosten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10128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S1.7, S1.19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31012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Kontext &amp; Gedächtnis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22192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S1.8–S1.12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22192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85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Aufträge formulieren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3425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S1.13–S1.15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334256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45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Git &amp; Worktrees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4632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S1.16–S1.18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84632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55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58384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Praxis-Stationen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358384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S1.20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35838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Sechs Rechte-Modi — wie Zutrittsebenen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788920"/>
            <a:ext cx="4480560" cy="47548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88920"/>
            <a:ext cx="4251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onsolas"/>
              </a:rPr>
              <a:t>plan  </a:t>
            </a:r>
            <a:r>
              <a:rPr sz="1400" b="0" i="0">
                <a:solidFill>
                  <a:srgbClr val="B4BEC8"/>
                </a:solidFill>
                <a:latin typeface="Calibri"/>
              </a:rPr>
              <a:t>lesen und planen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3448" y="3364992"/>
            <a:ext cx="4480560" cy="47548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3364992"/>
            <a:ext cx="4251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onsolas"/>
              </a:rPr>
              <a:t>Manual (default)  </a:t>
            </a:r>
            <a:r>
              <a:rPr sz="1400" b="0" i="0">
                <a:solidFill>
                  <a:srgbClr val="B4BEC8"/>
                </a:solidFill>
                <a:latin typeface="Calibri"/>
              </a:rPr>
              <a:t>Lesen, sonst Rückfrage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23176" y="3941064"/>
            <a:ext cx="4480560" cy="47548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3941064"/>
            <a:ext cx="4251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onsolas"/>
              </a:rPr>
              <a:t>dontAsk  </a:t>
            </a:r>
            <a:r>
              <a:rPr sz="1400" b="0" i="0">
                <a:solidFill>
                  <a:srgbClr val="B4BEC8"/>
                </a:solidFill>
                <a:latin typeface="Calibri"/>
              </a:rPr>
              <a:t>nur Vorab-Erlaubtes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32904" y="4517136"/>
            <a:ext cx="4480560" cy="475488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4517136"/>
            <a:ext cx="4251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onsolas"/>
              </a:rPr>
              <a:t>acceptEdits  </a:t>
            </a:r>
            <a:r>
              <a:rPr sz="1400" b="0" i="0">
                <a:solidFill>
                  <a:srgbClr val="B4BEC8"/>
                </a:solidFill>
                <a:latin typeface="Calibri"/>
              </a:rPr>
              <a:t>+ Dateiänderungen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42632" y="5093208"/>
            <a:ext cx="4480560" cy="475488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5093208"/>
            <a:ext cx="4251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onsolas"/>
              </a:rPr>
              <a:t>auto  </a:t>
            </a:r>
            <a:r>
              <a:rPr sz="1400" b="0" i="0">
                <a:solidFill>
                  <a:srgbClr val="B4BEC8"/>
                </a:solidFill>
                <a:latin typeface="Calibri"/>
              </a:rPr>
              <a:t>Klassifikator prüft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5669280"/>
            <a:ext cx="4480560" cy="475488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 w="15875">
            <a:solidFill>
              <a:srgbClr val="EC8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5669280"/>
            <a:ext cx="4251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DF1"/>
                </a:solidFill>
                <a:latin typeface="Consolas"/>
              </a:rPr>
              <a:t>bypassPermissions  </a:t>
            </a:r>
            <a:r>
              <a:rPr sz="1400" b="0" i="0">
                <a:solidFill>
                  <a:srgbClr val="B4BEC8"/>
                </a:solidFill>
                <a:latin typeface="Calibri"/>
              </a:rPr>
              <a:t>alles — nur in VMs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Session 2 · 20 Kapitel · Kern 5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Das Ökosystem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Skills, Hooks, Plugins, MCP und Wissensquellen — erweitern und kontrollieren.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Skills &amp;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28600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S2.1–S2.5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8600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125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Hooks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98064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S2.6–S2.10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79806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130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10128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S2.11–S2.13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31012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70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MCP &amp; Wissensquellen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22192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S2.14–S2.19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22192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140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Praxis-Stationen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3425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S2.20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334256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Hook-Lebenslauf: von den Exit-Codes blockt nur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2834640"/>
            <a:ext cx="2103120" cy="7315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83464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PreToolUse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Ereignis + matcher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52560" y="3200400"/>
            <a:ext cx="457200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55480" y="2834640"/>
            <a:ext cx="2103120" cy="7315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83464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Skript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liest tool_input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635240" y="3611880"/>
            <a:ext cx="2971800" cy="64008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4297680"/>
            <a:ext cx="150876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EC8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4297680"/>
            <a:ext cx="1325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C835A"/>
                </a:solidFill>
                <a:latin typeface="Calibri"/>
              </a:rPr>
              <a:t>exit 2</a:t>
            </a:r>
          </a:p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blockt, Grund an Claude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9253728" y="3611880"/>
            <a:ext cx="1353312" cy="64008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22208" y="4297680"/>
            <a:ext cx="150876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2FB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1936" y="4297680"/>
            <a:ext cx="1325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B344"/>
                </a:solidFill>
                <a:latin typeface="Calibri"/>
              </a:rPr>
              <a:t>exit 0</a:t>
            </a:r>
          </a:p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Aktion läuft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607040" y="3611880"/>
            <a:ext cx="265176" cy="64008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40696" y="4297680"/>
            <a:ext cx="150876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FAB2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4297680"/>
            <a:ext cx="1325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AB219"/>
                </a:solidFill>
                <a:latin typeface="Calibri"/>
              </a:rPr>
              <a:t>1, 127, Timeout</a:t>
            </a:r>
          </a:p>
          <a:p>
            <a:pPr algn="l"/>
            <a:r>
              <a:rPr sz="1100" b="0" i="0">
                <a:solidFill>
                  <a:srgbClr val="B4BEC8"/>
                </a:solidFill>
                <a:latin typeface="Calibri"/>
              </a:rPr>
              <a:t>Standard: läuft trotzdem (fail-open); mit onFailure block: blockt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6692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Ein kaputter Schutz-Hook ist ein offener Schutz-Hook.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Session 3 · 15 Kapitel · Kern 5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Fortgeschritten: Kern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Spezialisierte Agenten, adversariale Prüfung, sichere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Agenten &amp; Orchestrierung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28600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S3.1–S3.5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8600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105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2788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Gegenprüfung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98064"/>
            <a:ext cx="1600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S3.6, S3.7, S3.10, S3.11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798064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105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9584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Rechte &amp; Freigaben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29584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S3.8, S3.9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52958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60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41648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Automation &amp; Loops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41648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S3.12–S3.14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04164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75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53712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Praxis-Stationen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553712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S3.15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553712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Drei Orchestrierungsmuster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Fan-out</a:t>
            </a:r>
          </a:p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parallel, dann zusammenführen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063240"/>
            <a:ext cx="640080" cy="45720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06324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9EDF1"/>
                </a:solidFill>
                <a:latin typeface="Calibri"/>
              </a:rPr>
              <a:t>A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235440" y="2926080"/>
            <a:ext cx="502920" cy="36576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2788920"/>
            <a:ext cx="822960" cy="292608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235440" y="3291840"/>
            <a:ext cx="502920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84080" y="3154680"/>
            <a:ext cx="822960" cy="292608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235440" y="3291840"/>
            <a:ext cx="502920" cy="36576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84080" y="3520440"/>
            <a:ext cx="822960" cy="292608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1605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Pipeline</a:t>
            </a:r>
          </a:p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Stufe für Stufe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4389120"/>
            <a:ext cx="640080" cy="45720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208008" y="4617720"/>
            <a:ext cx="192024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18320" y="4389120"/>
            <a:ext cx="640080" cy="45720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076688" y="4617720"/>
            <a:ext cx="192024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287000" y="4389120"/>
            <a:ext cx="640080" cy="45720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0945368" y="4617720"/>
            <a:ext cx="192024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155680" y="4389120"/>
            <a:ext cx="640080" cy="45720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5486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Hierarchie</a:t>
            </a:r>
          </a:p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Leitstelle verteilt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544068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5440680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9EDF1"/>
                </a:solidFill>
                <a:latin typeface="Calibri"/>
              </a:rPr>
              <a:t>Leitung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8732520" y="5852160"/>
            <a:ext cx="1188720" cy="32004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366760" y="6199632"/>
            <a:ext cx="731520" cy="27432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>
            <a:off x="9829800" y="5852160"/>
            <a:ext cx="91440" cy="32004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464040" y="6199632"/>
            <a:ext cx="731520" cy="27432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921240" y="5852160"/>
            <a:ext cx="1005840" cy="32004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561320" y="6199632"/>
            <a:ext cx="731520" cy="27432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Session 4 · 11 Kapitel · Kern 1,5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Fortgeschritten: Kür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Modell pro Phase, Headless und CI, Isolation, Abschlussprojekt, Fehlersuche.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Modelle &amp; Kosten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28600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8600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Agenten &amp; Orchestrierung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98064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S4.2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79806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Headless &amp;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10128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S4.3–S4.5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31012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85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Remote, Docker,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22192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S4.6, S4.7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22192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45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Abschlussprojekt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3425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S4.8, S4.11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334256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85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2788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DF1"/>
                </a:solidFill>
                <a:latin typeface="Calibri"/>
              </a:rPr>
              <a:t>Fehlersuche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4632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0A526"/>
                </a:solidFill>
                <a:latin typeface="Consolas"/>
              </a:rPr>
              <a:t>S4.9, S4.10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84632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60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BEC8"/>
                </a:solidFill>
                <a:latin typeface="Calibri"/>
              </a:rPr>
              <a:t>Claude als Pipeline-Stufe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2834640"/>
            <a:ext cx="1143000" cy="8229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834640"/>
            <a:ext cx="868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Diff / Aufgabe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stdin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92440" y="3246120"/>
            <a:ext cx="274320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12480" y="283464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2A333C"/>
          </a:solidFill>
          <a:ln w="15875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83464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claude -p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--output-format json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78440" y="3246120"/>
            <a:ext cx="274319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698480" y="2834640"/>
            <a:ext cx="1051560" cy="82296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5640" y="2834640"/>
            <a:ext cx="777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Urteil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JSON</a:t>
            </a:r>
          </a:p>
        </p:txBody>
      </p:sp>
      <p:sp>
        <p:nvSpPr>
          <p:cNvPr id="32" name="Oval 31"/>
          <p:cNvSpPr/>
          <p:nvPr/>
        </p:nvSpPr>
        <p:spPr>
          <a:xfrm>
            <a:off x="6940296" y="4133088"/>
            <a:ext cx="128016" cy="128016"/>
          </a:xfrm>
          <a:prstGeom prst="ellipse">
            <a:avLst/>
          </a:prstGeom>
          <a:solidFill>
            <a:srgbClr val="8F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4023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--max-budget-usd und --max-turns begrenzen Kosten und Runden (nur -p)</a:t>
            </a:r>
          </a:p>
        </p:txBody>
      </p:sp>
      <p:sp>
        <p:nvSpPr>
          <p:cNvPr id="34" name="Oval 33"/>
          <p:cNvSpPr/>
          <p:nvPr/>
        </p:nvSpPr>
        <p:spPr>
          <a:xfrm>
            <a:off x="6940296" y="4818888"/>
            <a:ext cx="128016" cy="128016"/>
          </a:xfrm>
          <a:prstGeom prst="ellipse">
            <a:avLst/>
          </a:prstGeom>
          <a:solidFill>
            <a:srgbClr val="8F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47091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Fremder Code: --bare mit API-Key, sonst laufen die Hooks des Repos</a:t>
            </a:r>
          </a:p>
        </p:txBody>
      </p:sp>
      <p:sp>
        <p:nvSpPr>
          <p:cNvPr id="36" name="Oval 35"/>
          <p:cNvSpPr/>
          <p:nvPr/>
        </p:nvSpPr>
        <p:spPr>
          <a:xfrm>
            <a:off x="6940296" y="5504688"/>
            <a:ext cx="128016" cy="128016"/>
          </a:xfrm>
          <a:prstGeom prst="ellipse">
            <a:avLst/>
          </a:prstGeom>
          <a:solidFill>
            <a:srgbClr val="8F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53949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4BEC8"/>
                </a:solidFill>
                <a:latin typeface="Calibri"/>
              </a:rPr>
              <a:t>Zugang: API-Key, Abo-Token nur ohne --bare, oder OIDC-Federation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Haltung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Ein grüner Bericht ist kein Beweis.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Ausgeführter Code ist einer.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103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Agent meldet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„alle Tests grün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3337560"/>
            <a:ext cx="365760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274320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743200"/>
            <a:ext cx="2103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Du führst aus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Tests, Diff, Ausgabe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3337560"/>
            <a:ext cx="365760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274320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2103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Gegenprüfer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unabhängig, adversarial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32520" y="3337560"/>
            <a:ext cx="365760" cy="0"/>
          </a:xfrm>
          <a:prstGeom prst="line">
            <a:avLst/>
          </a:prstGeom>
          <a:ln w="22225">
            <a:solidFill>
              <a:srgbClr val="8F9B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274320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743200"/>
            <a:ext cx="2103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EDF1"/>
                </a:solidFill>
                <a:latin typeface="Calibri"/>
              </a:rPr>
              <a:t>Erst dann</a:t>
            </a:r>
          </a:p>
          <a:p>
            <a:pPr algn="ctr"/>
            <a:r>
              <a:rPr sz="1400" b="0" i="0">
                <a:solidFill>
                  <a:srgbClr val="B4BEC8"/>
                </a:solidFill>
                <a:latin typeface="Calibri"/>
              </a:rPr>
              <a:t>übernehmen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In der Bibliothek: Devil's Advocate (S3.6), eingebaute Reviews (S3.7), Fehlersuche Schicht für Schicht (S4.9, S4.10).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526"/>
                </a:solidFill>
                <a:latin typeface="Calibri"/>
              </a:rPr>
              <a:t>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9EDF1"/>
                </a:solidFill>
                <a:latin typeface="Calibri"/>
              </a:rPr>
              <a:t>Mit Claude Code lernen: der Workshop-Tutor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Aufruf als Plugin-Skill: /dynamic-workshop:workshop &lt;modus&gt;. Der Lernordner ist das Gedächtnis.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840480" cy="56692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0A526"/>
                </a:solidFill>
                <a:latin typeface="Consolas"/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377440"/>
            <a:ext cx="6583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Einstufung, Mission, persönlicher Pfad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0672"/>
            <a:ext cx="3840480" cy="56692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9067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0A526"/>
                </a:solidFill>
                <a:latin typeface="Consolas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90672"/>
            <a:ext cx="6583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das nächste Kapitel deines Pfads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03904"/>
            <a:ext cx="3840480" cy="56692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0390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0A526"/>
                </a:solidFill>
                <a:latin typeface="Consolas"/>
              </a:rPr>
              <a:t>learn S2.8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03904"/>
            <a:ext cx="6583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ein bestimmtes Kapitel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17136"/>
            <a:ext cx="3840480" cy="56692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1713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0A526"/>
                </a:solidFill>
                <a:latin typeface="Consolas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517136"/>
            <a:ext cx="6583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Abruf mit Abstand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30368"/>
            <a:ext cx="3840480" cy="566928"/>
          </a:xfrm>
          <a:prstGeom prst="roundRect">
            <a:avLst>
              <a:gd name="adj" fmla="val 6000"/>
            </a:avLst>
          </a:prstGeom>
          <a:solidFill>
            <a:srgbClr val="1F262D"/>
          </a:solidFill>
          <a:ln w="15875">
            <a:solidFill>
              <a:srgbClr val="3A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3036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0A526"/>
                </a:solidFill>
                <a:latin typeface="Consolas"/>
              </a:rPr>
              <a:t>guide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230368"/>
            <a:ext cx="6583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4BEC8"/>
                </a:solidFill>
                <a:latin typeface="Calibri"/>
              </a:rPr>
              <a:t>Co-Pilot für Moderierende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9EDF1"/>
                </a:solidFill>
                <a:latin typeface="Calibri"/>
              </a:rPr>
              <a:t>Los geht's.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B4BEC8"/>
                </a:solidFill>
                <a:latin typeface="Calibri"/>
              </a:rPr>
              <a:t>Einstufung: </a:t>
            </a:r>
            <a:r>
              <a:rPr sz="2200" b="0" i="0">
                <a:solidFill>
                  <a:srgbClr val="B4BEC8"/>
                </a:solidFill>
                <a:latin typeface="Calibri"/>
              </a:rPr>
              <a:t>Lern-Cockpit oder /dynamic-workshop:workshop start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B4BEC8"/>
                </a:solidFill>
                <a:latin typeface="Calibri"/>
              </a:rPr>
              <a:t>Fertige Pfade: </a:t>
            </a:r>
            <a:r>
              <a:rPr sz="2200" b="0" i="0">
                <a:solidFill>
                  <a:srgbClr val="B4BEC8"/>
                </a:solidFill>
                <a:latin typeface="Consolas"/>
              </a:rPr>
              <a:t>resources/paths/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B4BEC8"/>
                </a:solidFill>
                <a:latin typeface="Calibri"/>
              </a:rPr>
              <a:t>Alle Kapitel: </a:t>
            </a:r>
            <a:r>
              <a:rPr sz="2200" b="0" i="0">
                <a:solidFill>
                  <a:srgbClr val="B4BEC8"/>
                </a:solidFill>
                <a:latin typeface="Consolas"/>
              </a:rPr>
              <a:t>resources/library/README.md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F9BA7"/>
                </a:solidFill>
                <a:latin typeface="Calibri"/>
              </a:rPr>
              <a:t>Stand von Modellen und CLI: resources/_canonical.md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