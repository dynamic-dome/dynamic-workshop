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Willkommen. Diese Bibliothek ersetzt den linearen Kurs: Du musst nicht alles durcharbeiten. Eine kurze Einstufung zeigt, welche Kapitel zu deinem Stand und Ziel passen.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Denkmodell zuerst: Ein Chat berät, ein Coding-Agent handelt in deiner Umgebung. Jede Freigabe hat echte Folgen — deshalb gehören Rechte-Modi, Hooks und das Prüfen von Ergebnissen zum Grundhandwerk.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Einstiege, je nach Zeit und Vorlieben. Alle drei führen in dieselben Kapitel.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Einstufung fragt nach Verhalten, nicht nach Wissen, weil Selbsteinschätzung zu Überschätzung neigt. Weiß nicht ist eine gute Antwort. Mini-Szenarien sind freiwillig und unbenotet. Sicherheitskapitel fallen nie unter Überfliegen, außer du entscheidest es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Gebäudeplan: Stockwerke sind Themenzonen, Räume sind Regale, jede Tür ist ein Kapitel. Im Cockpit zeigt die Farbe deiner Türen deine Empfehlung.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Neun Kapitel empfehlen wir allen, auch Fortgeschrittenen, mindestens zum Überfliegen. Das Wichtigste: Von den Exit-Codes blockt nur 2, ein abstürzender Hook lässt die Aktion im Standard durch (mit onFailure block blockt er). Und claude -p ohne --bare führt die Hooks eines fremden Repos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beginnt mit einem Bau-Erfolg in den ersten Minuten, danach die Rechte-Modi als Zutrittsebenen.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2: Erweitern mit Kontrolle. Merksatz für Hooks: von den Exit-Codes blockt nur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3: Agenten spezialisieren, gegenprüfen lassen, autonome Läufe begrenzen.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4: Claude als Pipeline-Stufe, das Abschlussprojekt und die Fehlersuche, die alle brauchen.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wichtigste Gewohnheit im Umgang mit Agenten: Ergebnisse selbst prüfen. Tests selbst laufen lassen, Diffs lesen, bei wichtigen Änderungen einen unabhängigen Gegenprüfer einsetzen.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Lernen mit Claude Code über Claude Code: Der Tutor stuft ein, führt Kapitel für Kapitel und fragt mit Abstand ab. Angelehnt an Matt Pococks Skill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Abschluss die drei Einstiege noch einmal. Fragen gehen an den Mentor-Agenten oder an die offizielle Doku.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589520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47888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906256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64624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222992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81360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0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47888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06256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64624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22992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881360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06256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64624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22992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881360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7888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06256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64624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222992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881360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47888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06256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64624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22992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881360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137160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E9EDF1"/>
                </a:solidFill>
                <a:latin typeface="Calibri"/>
              </a:rPr>
              <a:t>Claude Code</a:t>
            </a:r>
          </a:p>
          <a:p>
            <a:pPr algn="l"/>
            <a:r>
              <a:rPr sz="4800" b="1" i="0">
                <a:solidFill>
                  <a:srgbClr val="E9EDF1"/>
                </a:solidFill>
                <a:latin typeface="Calibri"/>
              </a:rPr>
              <a:t>Praxisbibliothek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24612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B4BEC8"/>
                </a:solidFill>
                <a:latin typeface="Calibri"/>
              </a:rPr>
              <a:t>Lernen nach deinem Stand — von der ersten Datei bis zur abgesicherten Agenten-Pipeline.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Kapitel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Regale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28 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Gesamtumfang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Live-Sessions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Denkmodell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Ein Agent handelt — du gibst frei und prüfst.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Auftrag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Ziel, Grenzen, Prüfschritt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06040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44368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Plan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lesen, vorschlagen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10328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85816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Werkzeug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Read, Edit, Bash 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14616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52944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0104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Freigabe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Rechte-Modus entscheidet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18904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57232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2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Ergebnis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Diff, Ausgabe, Tests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247120" y="3931920"/>
            <a:ext cx="0" cy="73152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466344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4663440"/>
            <a:ext cx="4480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Du prüfst selbst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Ein grüner Bericht beweist nichts, ausgeführter Code schon.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5669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4BEC8"/>
                </a:solidFill>
                <a:latin typeface="Calibri"/>
              </a:rPr>
              <a:t>Chat: </a:t>
            </a:r>
            <a:r>
              <a:rPr sz="1800" b="0" i="0">
                <a:solidFill>
                  <a:srgbClr val="B4BEC8"/>
                </a:solidFill>
                <a:latin typeface="Calibri"/>
              </a:rPr>
              <a:t>gibt Ratschläge, du setzt um.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4BEC8"/>
                </a:solidFill>
                <a:latin typeface="Calibri"/>
              </a:rPr>
              <a:t>Agent: </a:t>
            </a:r>
            <a:r>
              <a:rPr sz="1800" b="0" i="0">
                <a:solidFill>
                  <a:srgbClr val="B4BEC8"/>
                </a:solidFill>
                <a:latin typeface="Calibri"/>
              </a:rPr>
              <a:t>setzt um, du steuerst die Freigaben.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Drei Wege in die Bibliothek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Einstufung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Ziel, Zeit, was du schon kannst. Ergebnis: dein Pfad in Etappen.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Cockpit, Tutor oder</a:t>
            </a:r>
          </a:p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einstufung.md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8 Pfade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Fertiger Pfad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Schnellstart, ein Pfad je Ziel oder die vier Live-Sessions.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resources/paths/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71 Kapitel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Stöbern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Regale als Gebäudeplan. Jedes Kapitel beginnt mit einem Schnellcheck.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resources/library/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Einstufung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In fünf Minuten zum persönlichen Pfad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Keine Noten. Das Ergebnis ist eine Empfehlung, die du jederzeit änderst.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1  Ziel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7 Ziele, höchstens zwei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3288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2  Warum + Zeit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Sitzungslänge oder Schnellstart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2744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3  Stand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14 Bereiche, Verhaltensfragen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200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2376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4  Szenarien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6 Stolpersteine, freiwillig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1656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41832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Mein Pfad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Etappen mit Begründung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Je Kapitel ein Status mit Begründung: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800600"/>
            <a:ext cx="256032" cy="256032"/>
          </a:xfrm>
          <a:prstGeom prst="ellipse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durcharbeiten</a:t>
            </a:r>
          </a:p>
        </p:txBody>
      </p:sp>
      <p:sp>
        <p:nvSpPr>
          <p:cNvPr id="22" name="Oval 21"/>
          <p:cNvSpPr/>
          <p:nvPr/>
        </p:nvSpPr>
        <p:spPr>
          <a:xfrm>
            <a:off x="3017520" y="4800600"/>
            <a:ext cx="256032" cy="256032"/>
          </a:xfrm>
          <a:prstGeom prst="ellipse">
            <a:avLst/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überfliegen</a:t>
            </a:r>
          </a:p>
        </p:txBody>
      </p:sp>
      <p:sp>
        <p:nvSpPr>
          <p:cNvPr id="24" name="Oval 23"/>
          <p:cNvSpPr/>
          <p:nvPr/>
        </p:nvSpPr>
        <p:spPr>
          <a:xfrm>
            <a:off x="5394960" y="4800600"/>
            <a:ext cx="256032" cy="256032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Schnellcheck reicht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4800600"/>
            <a:ext cx="256032" cy="256032"/>
          </a:xfrm>
          <a:prstGeom prst="ellipse">
            <a:avLst/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später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F9BA7"/>
                </a:solidFill>
                <a:latin typeface="Calibri"/>
              </a:rPr>
              <a:t>Etappen folgen immer der Lehrreihenfolge; die Zeitangabe schneidet sie in Sitzungen. Voraussetzungen kommen automatisch 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Bibliothek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Der Gebäudeplan: Zonen, Regale,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Grundlagen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23160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Erste Schritte &amp; Denkmodell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67912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9352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9352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4104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544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Kontext &amp; Gedächtnis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0296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1736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Aufträge formulieren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76488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Git &amp; Worktrees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25496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Erweitern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Skills &amp;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05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Hooks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Plugins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MCP &amp; Wissensquellen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 Kapitel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76472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Fortgeschritten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317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231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 Kapitel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605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Gegenprüfung &amp; Compliance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93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Automation &amp; Loops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Headless &amp; CI/CD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6469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Remote, Docker, Isolation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 Kapitel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727448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Betrieb &amp; Abschluss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31720" y="4498848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23160" y="4562856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Fehlersuche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5047488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 Kapitel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60520" y="4498848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60" y="4562856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Abschlussprojekt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60" y="5047488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 Kapitel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7842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Begleitend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331720" y="5449824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23160" y="5513832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3160" y="5998464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0520" y="5449824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51960" y="5513832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Community &amp; Lernen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0" y="5998464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Sicherheitsboden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9 Kapitel, die niemand auslässt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Wer ein Feature nutzt, liest dessen Sicherheitskapitel — auch ohne passendes Ziel.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Rechte im Alltag: default und acceptEdits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Alle Rechte-Modi im Überblick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Einen Hook einrichten, der wirklich blockt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Lieferkettenrisiken bei Plugins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MCP-Sicherheit und ein eigener Server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Rechte für autonome Läufe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Geschützte Pfade und Sandbox-Stufen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Autonome Loops absichern: Budget und Worktree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S4.4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CI-Zugangsdaten, Kostengrenzen und Kosten-Feinschliff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1 · 20 Kapitel · Kern 4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Erste Schritte mit dem Agenten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Bauen, verstehen, steuern: Werkstatt, Rechte, Kontext, Aufträge, Git, Kosten.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Erste Schritte &amp; Denkmodell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S1.1–S1.4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S1.5, S1.6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S1.7, S1.19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Kontext &amp; Gedächtnis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S1.8–S1.12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85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Aufträge formulieren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S1.13–S1.15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Git &amp; Worktrees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S1.16–S1.18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84632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5838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35838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35838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Sechs Rechte-Modi — wie Zutrittsebenen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788920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2788920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plan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lesen und planen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13448" y="3364992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364992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Manual (default)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Lesen, sonst Rückfrage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23176" y="3941064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0336" y="3941064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dontAsk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nur Vorab-Erlaubtes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32904" y="4517136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4" y="4517136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acceptEdits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+ Dateiänderungen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42632" y="5093208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5093208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auto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Klassifikator prüft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5669280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C8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5669280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bypassPermissions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alles — nur in VMs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2 · 20 Kapitel · Kern 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Das Ökosystem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Skills, Hooks, Plugins, MCP und Wissensquellen — erweitern und kontrollieren.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Skills &amp;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S2.1–S2.5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S2.6–S2.10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130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Plugins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S2.11–S2.13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70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MCP &amp; Wissensquellen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S2.14–S2.19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140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Hook-Lebenslauf: von den Exit-Codes blockt nur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2834640"/>
            <a:ext cx="2103120" cy="7315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834640"/>
            <a:ext cx="1828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PreToolUse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Ereignis + matcher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52560" y="3200400"/>
            <a:ext cx="45720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555480" y="2834640"/>
            <a:ext cx="2103120" cy="7315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834640"/>
            <a:ext cx="1828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Skript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liest tool_input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35240" y="3611880"/>
            <a:ext cx="2971800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03720" y="4297680"/>
            <a:ext cx="1508760" cy="18288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EC8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4297680"/>
            <a:ext cx="132588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C835A"/>
                </a:solidFill>
                <a:latin typeface="Calibri"/>
              </a:rPr>
              <a:t>exit 2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blockt, Grund an Claude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9253728" y="3611880"/>
            <a:ext cx="1353312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522208" y="4297680"/>
            <a:ext cx="1508760" cy="18288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2FB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1936" y="4297680"/>
            <a:ext cx="132588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B344"/>
                </a:solidFill>
                <a:latin typeface="Calibri"/>
              </a:rPr>
              <a:t>exit 0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Aktion läuft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607040" y="3611880"/>
            <a:ext cx="265176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40696" y="4297680"/>
            <a:ext cx="1508760" cy="18288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0424" y="4297680"/>
            <a:ext cx="132588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AB219"/>
                </a:solidFill>
                <a:latin typeface="Calibri"/>
              </a:rPr>
              <a:t>1, 127, Timeout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Standard: läuft (fail-open); mit onFailure block: blockt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61722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Im Standard ist ein kaputter Schutz-Hook ein offener Schutz-Hook.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3 · 15 Kapitel · Kern 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Fortgeschritten: Kern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Spezialisierte Agenten, adversariale Prüfung, sichere Automation.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S3.1–S3.5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105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Gegenprüfung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S3.6, S3.7, S3.10, S3.11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105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958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52958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S3.8, S3.9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52958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4164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Automation &amp; Loops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4164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S3.12–S3.14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04164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75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5371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55371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55371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Drei Orchestrierungsmuster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28346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Fan-out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parallel, dann zusammenführen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06324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306324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9EDF1"/>
                </a:solidFill>
                <a:latin typeface="Calibri"/>
              </a:rPr>
              <a:t>A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235440" y="2926080"/>
            <a:ext cx="502920" cy="36576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784080" y="278892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235440" y="3291840"/>
            <a:ext cx="50292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784080" y="315468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235440" y="3291840"/>
            <a:ext cx="502920" cy="36576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84080" y="352044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41605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Pipeline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Stufe für Stufe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4964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920800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1832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07668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8700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094536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115568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486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Hierarchie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Leitstelle verteilt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5440680"/>
            <a:ext cx="1005840" cy="38404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5440680"/>
            <a:ext cx="731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9EDF1"/>
                </a:solidFill>
                <a:latin typeface="Calibri"/>
              </a:rPr>
              <a:t>Leitung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8732520" y="5852160"/>
            <a:ext cx="118872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36676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9829800" y="5852160"/>
            <a:ext cx="9144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46404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921240" y="5852160"/>
            <a:ext cx="100584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56132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4 · 11 Kapitel · Kern 1,5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Fortgeschritten: Kür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Modell pro Phase, Headless und CI, Isolation, Abschlussprojekt, Fehlersuche.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Headless &amp; 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S4.3–S4.5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85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Remote, Docker,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S4.6, S4.7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Abschlussprojekt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S4.8, S4.11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85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Fehlersuche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S4.9, S4.10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84632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Claude als Pipeline-Stufe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834640"/>
            <a:ext cx="1143000" cy="8229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2834640"/>
            <a:ext cx="868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Diff / Aufgabe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stdin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92440" y="3246120"/>
            <a:ext cx="27432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12480" y="283464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834640"/>
            <a:ext cx="1645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claude -p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--output-format json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378440" y="3246120"/>
            <a:ext cx="274319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698480" y="2834640"/>
            <a:ext cx="1051560" cy="8229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5640" y="2834640"/>
            <a:ext cx="777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Urteil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JSON</a:t>
            </a:r>
          </a:p>
        </p:txBody>
      </p:sp>
      <p:sp>
        <p:nvSpPr>
          <p:cNvPr id="32" name="Oval 31"/>
          <p:cNvSpPr/>
          <p:nvPr/>
        </p:nvSpPr>
        <p:spPr>
          <a:xfrm>
            <a:off x="6940296" y="41330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40233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--max-budget-usd und --max-turns begrenzen Kosten und Runden (nur -p)</a:t>
            </a:r>
          </a:p>
        </p:txBody>
      </p:sp>
      <p:sp>
        <p:nvSpPr>
          <p:cNvPr id="34" name="Oval 33"/>
          <p:cNvSpPr/>
          <p:nvPr/>
        </p:nvSpPr>
        <p:spPr>
          <a:xfrm>
            <a:off x="6940296" y="48188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47091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Fremder Code: --bare mit API-Key, sonst laufen die Hooks des Repos</a:t>
            </a:r>
          </a:p>
        </p:txBody>
      </p:sp>
      <p:sp>
        <p:nvSpPr>
          <p:cNvPr id="36" name="Oval 35"/>
          <p:cNvSpPr/>
          <p:nvPr/>
        </p:nvSpPr>
        <p:spPr>
          <a:xfrm>
            <a:off x="6940296" y="55046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53949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Zugang: API-Key, Abo-Token nur ohne --bare, oder OIDC-Federation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Haltung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Ein grüner Bericht ist kein Beweis.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Ausgeführter Code ist einer.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Agent meldet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„alle Tests grün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Du führst aus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Tests, Diff, Ausgabe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Gegenprüfer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unabhängig, adversarial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Erst dann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übernehmen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In der Bibliothek: Devil's Advocate (S3.6), eingebaute Reviews (S3.7), Fehlersuche Schicht für Schicht (S4.9, S4.10).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Tutor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Mit Claude Code lernen: der Workshop-Tutor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Aufruf als Plugin-Skill: /dynamic-workshop:workshop &lt;modus&gt;. Der Lernordner ist das Gedächtnis.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377440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Einstufung, Mission, persönlicher Pfad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090672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das nächste Kapitel deines Pfads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03904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03904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learn S2.8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03904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ein bestimmtes Kapitel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17136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1713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17136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Abruf mit Abstand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30368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guide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230368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Co-Pilot für Moderierende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E9EDF1"/>
                </a:solidFill>
                <a:latin typeface="Calibri"/>
              </a:rPr>
              <a:t>Los geht's.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Einstufung: </a:t>
            </a:r>
            <a:r>
              <a:rPr sz="2200" b="0" i="0">
                <a:solidFill>
                  <a:srgbClr val="B4BEC8"/>
                </a:solidFill>
                <a:latin typeface="Calibri"/>
              </a:rPr>
              <a:t>Lern-Cockpit oder /dynamic-workshop:workshop start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Fertige Pfade: </a:t>
            </a:r>
            <a:r>
              <a:rPr sz="2200" b="0" i="0">
                <a:solidFill>
                  <a:srgbClr val="B4BEC8"/>
                </a:solidFill>
                <a:latin typeface="Consolas"/>
              </a:rPr>
              <a:t>resources/paths/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Alle Kapitel: </a:t>
            </a:r>
            <a:r>
              <a:rPr sz="2200" b="0" i="0">
                <a:solidFill>
                  <a:srgbClr val="B4BEC8"/>
                </a:solidFill>
                <a:latin typeface="Consolas"/>
              </a:rPr>
              <a:t>resources/library/README.md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Stand von Modellen und CLI: resources/_canonical.md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