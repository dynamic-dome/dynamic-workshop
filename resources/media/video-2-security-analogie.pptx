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Ihr baut Systeme, die Gebaeude schuetzen. Tueren, Sensoren, Berechtigungen, Zentralen. Was waere, wenn euer Entwicklungstool genauso funktioniert?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Hooks in Claude Code sind wie eure Alarmsensoren. Ein PreToolUse-Hook reagiert, BEVOR etwas passiert — wie ein PIR-Melder, der den Alarm ausloest, bevor der Einbrecher die Tuer erreicht.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Model Context Protocol ist der RS485 eurer KI-Welt. Ein standardisierter Bus, ueber den Claude mit jedem System kommuniziert — Datenbanken, APIs, Jira, Slack. Plug and 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Skills sind wie Berechtigungsprofile in eurer Zutrittskontrolle. Jedes Profil definiert: Was darf in welcher Zone passieren? Ein TDD-Skill erzwingt Tests. Ein Security-Audit-Skill prueft OWASP-Regeln. Frei kombinierbar.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 Agents? Die sind euer autonomes Wachpersonal. Sie arbeiten eigenstaendig, treffen Entscheidungen, eskalieren wenn noetig. Ein Agent scannt, ein anderer fixt, ein dritter reviewed — wie ein Security Operations Center.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Ihr baut jeden Tag Systeme, die genau so funktionieren. Jetzt koennt ihr ein Entwicklungssystem bauen, das genauso modular, erweiterbar und intelligent ist wie eure eigenen Produkte.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0F0"/>
                </a:solidFill>
                <a:latin typeface="Segoe UI"/>
              </a:defRPr>
            </a:pPr>
            <a:r>
              <a:t>Ihr baut Systeme,</a:t>
            </a:r>
            <a:br/>
            <a:r>
              <a:t>die Gebaeude schuetzen.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3017520"/>
            <a:ext cx="6675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A0AA"/>
                </a:solidFill>
                <a:latin typeface="Segoe UI"/>
              </a:defRPr>
            </a:pPr>
            <a:r>
              <a:t>Tueren.  Sensoren.  Berechtigungen.  Zentralen.</a:t>
            </a:r>
            <a:br/>
            <a:br/>
            <a:r>
              <a:t>Was waere, wenn euer Entwicklungstool</a:t>
            </a:r>
            <a:br/>
            <a:r>
              <a:t>genauso funktioniert?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E7A"/>
                </a:solidFill>
                <a:latin typeface="Segoe UI"/>
              </a:defRPr>
            </a:pPr>
            <a:r>
              <a:t>[0:00 - 0:20]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8C00"/>
                </a:solidFill>
                <a:latin typeface="Segoe UI"/>
              </a:defRPr>
            </a:pPr>
            <a:r>
              <a:t>Hooks = Alarmsensoren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4572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029200" cy="411480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800">
                <a:solidFill>
                  <a:srgbClr val="F0F0F0"/>
                </a:solidFill>
                <a:latin typeface="Segoe U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Physical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Segoe UI"/>
              </a:defRPr>
            </a:pPr>
            <a:r>
              <a:t>PIR-Sensor erkennt Bewegung</a:t>
            </a:r>
            <a:br/>
            <a:br/>
            <a:r>
              <a:t>  → Alarm BEVOR Einbrecher</a:t>
            </a:r>
            <a:br/>
            <a:r>
              <a:t>     die Tuer erreicht</a:t>
            </a:r>
            <a:br/>
            <a:br/>
            <a:r>
              <a:t>  → Automatische Reaktion:</a:t>
            </a:r>
            <a:br/>
            <a:r>
              <a:t>     Licht an, Kamera startet,</a:t>
            </a:r>
            <a:br/>
            <a:r>
              <a:t>     Zentrale benachrichtigt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800">
                <a:solidFill>
                  <a:srgbClr val="F0F0F0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Segoe UI"/>
              </a:defRPr>
            </a:pPr>
            <a:r>
              <a:t>PreToolUse-Hook prueft Code</a:t>
            </a:r>
            <a:br/>
            <a:br/>
            <a:r>
              <a:t>  → Warnung BEVOR unsicherer</a:t>
            </a:r>
            <a:br/>
            <a:r>
              <a:t>     Code ausgefuehrt wird</a:t>
            </a:r>
            <a:br/>
            <a:br/>
            <a:r>
              <a:t>  → Automatische Reaktion:</a:t>
            </a:r>
            <a:br/>
            <a:r>
              <a:t>     Block, Log, Alternative</a:t>
            </a:r>
            <a:br/>
            <a:r>
              <a:t>     vorschlagen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E7A"/>
                </a:solidFill>
                <a:latin typeface="Segoe UI"/>
              </a:defRPr>
            </a:pPr>
            <a:r>
              <a:t>[0:20 - 0:50]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4FF"/>
                </a:solidFill>
                <a:latin typeface="Segoe UI"/>
              </a:defRPr>
            </a:pPr>
            <a:r>
              <a:t>MCP = Der Datenbus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4572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0332720" cy="548640"/>
          </a:xfrm>
          <a:prstGeom prst="roundRect">
            <a:avLst/>
          </a:prstGeom>
          <a:solidFill>
            <a:srgbClr val="0A1A2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2000">
                <a:solidFill>
                  <a:srgbClr val="00D4FF"/>
                </a:solidFill>
                <a:latin typeface="Segoe UI"/>
              </a:defRPr>
            </a:pPr>
            <a:r>
              <a:t>═══════════  BUS  ═══════════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2377440" cy="64008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>
                <a:solidFill>
                  <a:srgbClr val="F0F0F0"/>
                </a:solidFill>
                <a:latin typeface="Segoe UI"/>
              </a:defRPr>
            </a:pPr>
            <a:r>
              <a:t>Kartenleser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463040"/>
            <a:ext cx="2377440" cy="64008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>
                <a:solidFill>
                  <a:srgbClr val="F0F0F0"/>
                </a:solidFill>
                <a:latin typeface="Segoe UI"/>
              </a:defRPr>
            </a:pPr>
            <a:r>
              <a:t>Tuerkontakt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377440" cy="64008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>
                <a:solidFill>
                  <a:srgbClr val="F0F0F0"/>
                </a:solidFill>
                <a:latin typeface="Segoe UI"/>
              </a:defRPr>
            </a:pPr>
            <a:r>
              <a:t>PIR-Sensor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463040"/>
            <a:ext cx="2377440" cy="64008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>
                <a:solidFill>
                  <a:srgbClr val="F0F0F0"/>
                </a:solidFill>
                <a:latin typeface="Segoe UI"/>
              </a:defRPr>
            </a:pPr>
            <a:r>
              <a:t>Kamera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E7A"/>
                </a:solidFill>
                <a:latin typeface="Segoe U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914400" y="3200400"/>
            <a:ext cx="2377440" cy="64008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>
                <a:solidFill>
                  <a:srgbClr val="F0F0F0"/>
                </a:solidFill>
                <a:latin typeface="Segoe UI"/>
              </a:defRPr>
            </a:pPr>
            <a:r>
              <a:t>Datenbank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200400"/>
            <a:ext cx="2377440" cy="64008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>
                <a:solidFill>
                  <a:srgbClr val="F0F0F0"/>
                </a:solidFill>
                <a:latin typeface="Segoe UI"/>
              </a:defRPr>
            </a:pPr>
            <a:r>
              <a:t>GitHub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2377440" cy="64008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>
                <a:solidFill>
                  <a:srgbClr val="F0F0F0"/>
                </a:solidFill>
                <a:latin typeface="Segoe UI"/>
              </a:defRPr>
            </a:pPr>
            <a:r>
              <a:t>Jira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3200400"/>
            <a:ext cx="2377440" cy="64008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>
                <a:solidFill>
                  <a:srgbClr val="F0F0F0"/>
                </a:solidFill>
                <a:latin typeface="Segoe UI"/>
              </a:defRPr>
            </a:pPr>
            <a:r>
              <a:t>Slack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8C00"/>
                </a:solidFill>
                <a:latin typeface="Segoe UI"/>
              </a:defRPr>
            </a:pPr>
            <a:r>
              <a:t>RS485 — ein Bus, alle Geraete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Segoe UI"/>
              </a:defRPr>
            </a:pPr>
            <a:r>
              <a:t>MCP — ein Protokoll, alle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A0AA"/>
                </a:solidFill>
                <a:latin typeface="Segoe UI"/>
              </a:defRPr>
            </a:pPr>
            <a:r>
              <a:t>Ein standardisierter Bus, ueber den Claude mit jedem System kommuniziert.</a:t>
            </a:r>
            <a:br/>
            <a:r>
              <a:t>Plug and Play.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E7A"/>
                </a:solidFill>
                <a:latin typeface="Segoe UI"/>
              </a:defRPr>
            </a:pPr>
            <a:r>
              <a:t>[0:50 - 1:20]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FF88"/>
                </a:solidFill>
                <a:latin typeface="Segoe UI"/>
              </a:defRPr>
            </a:pPr>
            <a:r>
              <a:t>Skills = Berechtigungsprofile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4572000" cy="381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82296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2200">
                <a:solidFill>
                  <a:srgbClr val="F0F0F0"/>
                </a:solidFill>
                <a:latin typeface="Segoe UI"/>
              </a:defRPr>
            </a:pPr>
            <a:r>
              <a:t>TDD-Skill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7475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A0AA"/>
                </a:solidFill>
                <a:latin typeface="Segoe UI"/>
              </a:defRPr>
            </a:pPr>
            <a:r>
              <a:t>Erzwingt: Test → Code → Refactor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3200400" cy="82296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2200">
                <a:solidFill>
                  <a:srgbClr val="F0F0F0"/>
                </a:solidFill>
                <a:latin typeface="Segoe UI"/>
              </a:defRPr>
            </a:pPr>
            <a:r>
              <a:t>Security-Audit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8448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A0AA"/>
                </a:solidFill>
                <a:latin typeface="Segoe UI"/>
              </a:defRPr>
            </a:pPr>
            <a:r>
              <a:t>Prueft OWASP Top 10 automatisch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40480"/>
            <a:ext cx="3200400" cy="82296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2200">
                <a:solidFill>
                  <a:srgbClr val="F0F0F0"/>
                </a:solidFill>
                <a:latin typeface="Segoe UI"/>
              </a:defRPr>
            </a:pPr>
            <a:r>
              <a:t>Code-Review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94208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A0AA"/>
                </a:solidFill>
                <a:latin typeface="Segoe UI"/>
              </a:defRPr>
            </a:pPr>
            <a:r>
              <a:t>Bewertet Readability +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937759"/>
            <a:ext cx="3200400" cy="82296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2200">
                <a:solidFill>
                  <a:srgbClr val="F0F0F0"/>
                </a:solidFill>
                <a:latin typeface="Segoe UI"/>
              </a:defRPr>
            </a:pPr>
            <a:r>
              <a:t>Custom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039359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A0AA"/>
                </a:solidFill>
                <a:latin typeface="Segoe UI"/>
              </a:defRPr>
            </a:pPr>
            <a:r>
              <a:t>Eure eigenen Regeln +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0F0F0"/>
                </a:solidFill>
                <a:latin typeface="Segoe UI"/>
              </a:defRPr>
            </a:pPr>
            <a:r>
              <a:t>Frei kombinierbar — wie Zutrittsprofile in eurer Zutrittskontrolle.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E7A"/>
                </a:solidFill>
                <a:latin typeface="Segoe UI"/>
              </a:defRPr>
            </a:pPr>
            <a:r>
              <a:t>[1:20 - 1:50]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BB86FC"/>
                </a:solidFill>
                <a:latin typeface="Segoe UI"/>
              </a:defRPr>
            </a:pPr>
            <a:r>
              <a:t>Agents = Wachpersonal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4572000" cy="381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A0AA"/>
                </a:solidFill>
                <a:latin typeface="Segoe UI"/>
              </a:defRPr>
            </a:pPr>
            <a:r>
              <a:t>Autonomes Security Operations 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743200"/>
            <a:ext cx="3200400" cy="228600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2000">
                <a:solidFill>
                  <a:srgbClr val="F0F0F0"/>
                </a:solidFill>
                <a:latin typeface="Segoe UI"/>
              </a:defRPr>
            </a:pPr>
            <a:r>
              <a:t>Agent 1</a:t>
            </a:r>
            <a:br/>
            <a:r>
              <a:t>SCANNER</a:t>
            </a:r>
            <a:br/>
            <a:br/>
            <a:r>
              <a:t>Analysiert Code</a:t>
            </a:r>
            <a:br/>
            <a:r>
              <a:t>auf Schwachstellen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743200"/>
            <a:ext cx="3200400" cy="228600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2000">
                <a:solidFill>
                  <a:srgbClr val="F0F0F0"/>
                </a:solidFill>
                <a:latin typeface="Segoe UI"/>
              </a:defRPr>
            </a:pPr>
            <a:r>
              <a:t>Agent 2</a:t>
            </a:r>
            <a:br/>
            <a:r>
              <a:t>FIXER</a:t>
            </a:r>
            <a:br/>
            <a:br/>
            <a:r>
              <a:t>Schreibt Patches</a:t>
            </a:r>
            <a:br/>
            <a:r>
              <a:t>und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743200"/>
            <a:ext cx="3200400" cy="228600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2000">
                <a:solidFill>
                  <a:srgbClr val="F0F0F0"/>
                </a:solidFill>
                <a:latin typeface="Segoe UI"/>
              </a:defRPr>
            </a:pPr>
            <a:r>
              <a:t>Agent 3</a:t>
            </a:r>
            <a:br/>
            <a:r>
              <a:t>REVIEWER</a:t>
            </a:r>
            <a:br/>
            <a:br/>
            <a:r>
              <a:t>Prueft Qualitaet</a:t>
            </a:r>
            <a:br/>
            <a:r>
              <a:t>und Sicherheit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0F0F0"/>
                </a:solidFill>
                <a:latin typeface="Segoe UI"/>
              </a:defRPr>
            </a:pPr>
            <a:r>
              <a:t>Sie arbeiten eigenstaendig, treffen Entscheidungen, eskalieren wenn noetig.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E7A"/>
                </a:solidFill>
                <a:latin typeface="Segoe UI"/>
              </a:defRPr>
            </a:pPr>
            <a:r>
              <a:t>[1:50 - 2:20]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0F0F0"/>
                </a:solidFill>
                <a:latin typeface="Segoe UI"/>
              </a:defRPr>
            </a:pPr>
            <a:r>
              <a:t>Ihr baut jeden Tag Systeme,</a:t>
            </a:r>
            <a:br/>
            <a:r>
              <a:t>die genau so funktionieren.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3474720"/>
            <a:ext cx="66751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0D4FF"/>
                </a:solidFill>
                <a:latin typeface="Segoe UI"/>
              </a:defRPr>
            </a:pPr>
            <a:r>
              <a:t>Jetzt koennt ihr ein Entwicklungssystem bauen,</a:t>
            </a:r>
            <a:br/>
            <a:r>
              <a:t>das genauso modular, erweiterbar und intelligent ist</a:t>
            </a:r>
            <a:br/>
            <a:r>
              <a:t>wie eure eigenen Produkte.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E7A"/>
                </a:solidFill>
                <a:latin typeface="Segoe UI"/>
              </a:defRPr>
            </a:pPr>
            <a:r>
              <a:t>[2:20 - 2:40]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