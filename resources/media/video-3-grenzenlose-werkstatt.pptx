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Eine leere Werkstatt. Ein einziges Werkzeug. Unendliche Moeglichkeiten.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Security-Audit eures Embedded-Codes — automatisch. Protokoll-Dokumentation aus dem Source Code generiert. Drei KI-Modelle debattieren ueber eure Architektur. Ein Waechter-Hook verhindert, dass Secrets committet werden. NotebookLM erstellt einen Podcast aus eurer API-Doku. Ein Agent refactored waehrend ihr Kaffee holt.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sind keine getrennten Features. Sie multiplizieren sich. Ein Skill, der einen Hook nutzt, der ueber MCP mit Jira spricht, gesteuert von einem Agent, der drei andere Agents koordiniert. Die einzige Grenze ist eure Vorstellungskraft.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drei Workshop-Sessions bauen wir gemeinsam eure persoenliche, grenzenlose Entwicklungsumgebung.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914400" y="1828800"/>
            <a:ext cx="10332720" cy="914400"/>
          </a:xfrm>
          <a:prstGeom prst="rect">
            <a:avLst/>
          </a:prstGeom>
          <a:noFill/>
        </p:spPr>
        <p:txBody>
          <a:bodyPr wrap="square">
            <a:spAutoFit/>
          </a:bodyPr>
          <a:lstStyle/>
          <a:p>
            <a:pPr algn="ctr">
              <a:defRPr sz="4800" b="1">
                <a:solidFill>
                  <a:srgbClr val="F0F0F0"/>
                </a:solidFill>
                <a:latin typeface="Segoe UI"/>
              </a:defRPr>
            </a:pPr>
            <a:r>
              <a:t>Eine leere Werkstatt.</a:t>
            </a:r>
          </a:p>
        </p:txBody>
      </p:sp>
      <p:sp>
        <p:nvSpPr>
          <p:cNvPr id="3" name="TextBox 2"/>
          <p:cNvSpPr txBox="1"/>
          <p:nvPr/>
        </p:nvSpPr>
        <p:spPr>
          <a:xfrm>
            <a:off x="914400" y="2926080"/>
            <a:ext cx="10332720" cy="731520"/>
          </a:xfrm>
          <a:prstGeom prst="rect">
            <a:avLst/>
          </a:prstGeom>
          <a:noFill/>
        </p:spPr>
        <p:txBody>
          <a:bodyPr wrap="square">
            <a:spAutoFit/>
          </a:bodyPr>
          <a:lstStyle/>
          <a:p>
            <a:pPr algn="ctr">
              <a:defRPr sz="3600" b="0">
                <a:solidFill>
                  <a:srgbClr val="99A0AA"/>
                </a:solidFill>
                <a:latin typeface="Segoe UI"/>
              </a:defRPr>
            </a:pPr>
            <a:r>
              <a:t>Ein einziges Werkzeug.</a:t>
            </a:r>
          </a:p>
        </p:txBody>
      </p:sp>
      <p:sp>
        <p:nvSpPr>
          <p:cNvPr id="4" name="Rectangle 3"/>
          <p:cNvSpPr/>
          <p:nvPr/>
        </p:nvSpPr>
        <p:spPr>
          <a:xfrm>
            <a:off x="3657600" y="3931920"/>
            <a:ext cx="4846320" cy="381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297680"/>
            <a:ext cx="10332720" cy="731520"/>
          </a:xfrm>
          <a:prstGeom prst="rect">
            <a:avLst/>
          </a:prstGeom>
          <a:noFill/>
        </p:spPr>
        <p:txBody>
          <a:bodyPr wrap="square">
            <a:spAutoFit/>
          </a:bodyPr>
          <a:lstStyle/>
          <a:p>
            <a:pPr algn="ctr">
              <a:defRPr sz="3600" b="0">
                <a:solidFill>
                  <a:srgbClr val="00D4FF"/>
                </a:solidFill>
                <a:latin typeface="Segoe UI"/>
              </a:defRPr>
            </a:pPr>
            <a:r>
              <a:t>Unendliche Moeglichkeiten.</a:t>
            </a:r>
          </a:p>
        </p:txBody>
      </p:sp>
      <p:sp>
        <p:nvSpPr>
          <p:cNvPr id="6" name="TextBox 5"/>
          <p:cNvSpPr txBox="1"/>
          <p:nvPr/>
        </p:nvSpPr>
        <p:spPr>
          <a:xfrm>
            <a:off x="1828800" y="5943600"/>
            <a:ext cx="8503920" cy="457200"/>
          </a:xfrm>
          <a:prstGeom prst="rect">
            <a:avLst/>
          </a:prstGeom>
          <a:noFill/>
        </p:spPr>
        <p:txBody>
          <a:bodyPr wrap="square">
            <a:spAutoFit/>
          </a:bodyPr>
          <a:lstStyle/>
          <a:p>
            <a:pPr algn="r">
              <a:defRPr sz="1400" b="0">
                <a:solidFill>
                  <a:srgbClr val="666E7A"/>
                </a:solidFill>
                <a:latin typeface="Segoe UI"/>
              </a:defRPr>
            </a:pPr>
            <a:r>
              <a:t>[0:00 - 0:15]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914400" y="365760"/>
            <a:ext cx="10332720" cy="731520"/>
          </a:xfrm>
          <a:prstGeom prst="rect">
            <a:avLst/>
          </a:prstGeom>
          <a:noFill/>
        </p:spPr>
        <p:txBody>
          <a:bodyPr wrap="square">
            <a:spAutoFit/>
          </a:bodyPr>
          <a:lstStyle/>
          <a:p>
            <a:pPr algn="l">
              <a:defRPr sz="3600" b="1">
                <a:solidFill>
                  <a:srgbClr val="F0F0F0"/>
                </a:solidFill>
                <a:latin typeface="Segoe UI"/>
              </a:defRPr>
            </a:pPr>
            <a:r>
              <a:t>Was damit moeglich ist</a:t>
            </a:r>
          </a:p>
        </p:txBody>
      </p:sp>
      <p:sp>
        <p:nvSpPr>
          <p:cNvPr id="3" name="Rectangle 2"/>
          <p:cNvSpPr/>
          <p:nvPr/>
        </p:nvSpPr>
        <p:spPr>
          <a:xfrm>
            <a:off x="914400" y="1097280"/>
            <a:ext cx="4572000" cy="381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463040"/>
            <a:ext cx="5303520" cy="1188720"/>
          </a:xfrm>
          <a:prstGeom prst="roundRect">
            <a:avLst/>
          </a:prstGeom>
          <a:solidFill>
            <a:srgbClr val="141A24"/>
          </a:solidFill>
          <a:ln w="254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01600" bIns="101600"/>
          <a:lstStyle/>
          <a:p>
            <a:pPr algn="ctr">
              <a:defRPr sz="1800">
                <a:solidFill>
                  <a:srgbClr val="F0F0F0"/>
                </a:solidFill>
                <a:latin typeface="Segoe UI"/>
              </a:defRPr>
            </a:pPr>
            <a:r>
              <a:t>Security-Audit eures Embedded-Codes</a:t>
            </a:r>
            <a:br/>
            <a:r>
              <a:t>— automatisch</a:t>
            </a:r>
          </a:p>
        </p:txBody>
      </p:sp>
      <p:sp>
        <p:nvSpPr>
          <p:cNvPr id="5" name="Rounded Rectangle 4"/>
          <p:cNvSpPr/>
          <p:nvPr/>
        </p:nvSpPr>
        <p:spPr>
          <a:xfrm>
            <a:off x="6583680" y="1463040"/>
            <a:ext cx="5303520" cy="1188720"/>
          </a:xfrm>
          <a:prstGeom prst="roundRect">
            <a:avLst/>
          </a:prstGeom>
          <a:solidFill>
            <a:srgbClr val="141A24"/>
          </a:solidFill>
          <a:ln w="254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01600" bIns="101600"/>
          <a:lstStyle/>
          <a:p>
            <a:pPr algn="ctr">
              <a:defRPr sz="1800">
                <a:solidFill>
                  <a:srgbClr val="F0F0F0"/>
                </a:solidFill>
                <a:latin typeface="Segoe UI"/>
              </a:defRPr>
            </a:pPr>
            <a:r>
              <a:t>Protokoll-Doku aus Source Code</a:t>
            </a:r>
            <a:br/>
            <a:r>
              <a:t>— generiert</a:t>
            </a:r>
          </a:p>
        </p:txBody>
      </p:sp>
      <p:sp>
        <p:nvSpPr>
          <p:cNvPr id="6" name="Rounded Rectangle 5"/>
          <p:cNvSpPr/>
          <p:nvPr/>
        </p:nvSpPr>
        <p:spPr>
          <a:xfrm>
            <a:off x="914400" y="2926080"/>
            <a:ext cx="5303520" cy="1188720"/>
          </a:xfrm>
          <a:prstGeom prst="roundRect">
            <a:avLst/>
          </a:prstGeom>
          <a:solidFill>
            <a:srgbClr val="141A24"/>
          </a:solidFill>
          <a:ln w="254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01600" bIns="101600"/>
          <a:lstStyle/>
          <a:p>
            <a:pPr algn="ctr">
              <a:defRPr sz="1800">
                <a:solidFill>
                  <a:srgbClr val="F0F0F0"/>
                </a:solidFill>
                <a:latin typeface="Segoe UI"/>
              </a:defRPr>
            </a:pPr>
            <a:r>
              <a:t>3 KI-Modelle debattieren</a:t>
            </a:r>
            <a:br/>
            <a:r>
              <a:t>— ueber eure Architektur</a:t>
            </a:r>
          </a:p>
        </p:txBody>
      </p:sp>
      <p:sp>
        <p:nvSpPr>
          <p:cNvPr id="7" name="Rounded Rectangle 6"/>
          <p:cNvSpPr/>
          <p:nvPr/>
        </p:nvSpPr>
        <p:spPr>
          <a:xfrm>
            <a:off x="6583680" y="2926080"/>
            <a:ext cx="5303520" cy="1188720"/>
          </a:xfrm>
          <a:prstGeom prst="roundRect">
            <a:avLst/>
          </a:prstGeom>
          <a:solidFill>
            <a:srgbClr val="141A24"/>
          </a:solidFill>
          <a:ln w="254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01600" bIns="101600"/>
          <a:lstStyle/>
          <a:p>
            <a:pPr algn="ctr">
              <a:defRPr sz="1800">
                <a:solidFill>
                  <a:srgbClr val="F0F0F0"/>
                </a:solidFill>
                <a:latin typeface="Segoe UI"/>
              </a:defRPr>
            </a:pPr>
            <a:r>
              <a:t>Waechter-Hook verhindert</a:t>
            </a:r>
            <a:br/>
            <a:r>
              <a:t>— Secret-Commits</a:t>
            </a:r>
          </a:p>
        </p:txBody>
      </p:sp>
      <p:sp>
        <p:nvSpPr>
          <p:cNvPr id="8" name="Rounded Rectangle 7"/>
          <p:cNvSpPr/>
          <p:nvPr/>
        </p:nvSpPr>
        <p:spPr>
          <a:xfrm>
            <a:off x="914400" y="4389120"/>
            <a:ext cx="5303520" cy="1188720"/>
          </a:xfrm>
          <a:prstGeom prst="roundRect">
            <a:avLst/>
          </a:prstGeom>
          <a:solidFill>
            <a:srgbClr val="141A24"/>
          </a:solidFill>
          <a:ln w="254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01600" bIns="101600"/>
          <a:lstStyle/>
          <a:p>
            <a:pPr algn="ctr">
              <a:defRPr sz="1800">
                <a:solidFill>
                  <a:srgbClr val="F0F0F0"/>
                </a:solidFill>
                <a:latin typeface="Segoe UI"/>
              </a:defRPr>
            </a:pPr>
            <a:r>
              <a:t>NotebookLM-Podcast</a:t>
            </a:r>
            <a:br/>
            <a:r>
              <a:t>— aus eurer API-Doku</a:t>
            </a:r>
          </a:p>
        </p:txBody>
      </p:sp>
      <p:sp>
        <p:nvSpPr>
          <p:cNvPr id="9" name="Rounded Rectangle 8"/>
          <p:cNvSpPr/>
          <p:nvPr/>
        </p:nvSpPr>
        <p:spPr>
          <a:xfrm>
            <a:off x="6583680" y="4389120"/>
            <a:ext cx="5303520" cy="1188720"/>
          </a:xfrm>
          <a:prstGeom prst="roundRect">
            <a:avLst/>
          </a:prstGeom>
          <a:solidFill>
            <a:srgbClr val="141A24"/>
          </a:solidFill>
          <a:ln w="254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01600" bIns="101600"/>
          <a:lstStyle/>
          <a:p>
            <a:pPr algn="ctr">
              <a:defRPr sz="1800">
                <a:solidFill>
                  <a:srgbClr val="F0F0F0"/>
                </a:solidFill>
                <a:latin typeface="Segoe UI"/>
              </a:defRPr>
            </a:pPr>
            <a:r>
              <a:t>Agent refactored</a:t>
            </a:r>
            <a:br/>
            <a:r>
              <a:t>— waehrend ihr Kaffee holt</a:t>
            </a:r>
          </a:p>
        </p:txBody>
      </p:sp>
      <p:sp>
        <p:nvSpPr>
          <p:cNvPr id="10" name="TextBox 9"/>
          <p:cNvSpPr txBox="1"/>
          <p:nvPr/>
        </p:nvSpPr>
        <p:spPr>
          <a:xfrm>
            <a:off x="1828800" y="5943600"/>
            <a:ext cx="8503920" cy="457200"/>
          </a:xfrm>
          <a:prstGeom prst="rect">
            <a:avLst/>
          </a:prstGeom>
          <a:noFill/>
        </p:spPr>
        <p:txBody>
          <a:bodyPr wrap="square">
            <a:spAutoFit/>
          </a:bodyPr>
          <a:lstStyle/>
          <a:p>
            <a:pPr algn="r">
              <a:defRPr sz="1400" b="0">
                <a:solidFill>
                  <a:srgbClr val="666E7A"/>
                </a:solidFill>
                <a:latin typeface="Segoe UI"/>
              </a:defRPr>
            </a:pPr>
            <a:r>
              <a:t>[0:15 - 0:45]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914400" y="457200"/>
            <a:ext cx="10332720" cy="731520"/>
          </a:xfrm>
          <a:prstGeom prst="rect">
            <a:avLst/>
          </a:prstGeom>
          <a:noFill/>
        </p:spPr>
        <p:txBody>
          <a:bodyPr wrap="square">
            <a:spAutoFit/>
          </a:bodyPr>
          <a:lstStyle/>
          <a:p>
            <a:pPr algn="l">
              <a:defRPr sz="4000" b="1">
                <a:solidFill>
                  <a:srgbClr val="00D4FF"/>
                </a:solidFill>
                <a:latin typeface="Segoe UI"/>
              </a:defRPr>
            </a:pPr>
            <a:r>
              <a:t>Das Multiplikator-Prinzip</a:t>
            </a:r>
          </a:p>
        </p:txBody>
      </p:sp>
      <p:sp>
        <p:nvSpPr>
          <p:cNvPr id="3" name="Rectangle 2"/>
          <p:cNvSpPr/>
          <p:nvPr/>
        </p:nvSpPr>
        <p:spPr>
          <a:xfrm>
            <a:off x="914400" y="1188720"/>
            <a:ext cx="4572000" cy="381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103120"/>
            <a:ext cx="1280160" cy="914400"/>
          </a:xfrm>
          <a:prstGeom prst="roundRect">
            <a:avLst/>
          </a:prstGeom>
          <a:solidFill>
            <a:srgbClr val="141A24"/>
          </a:solidFill>
          <a:ln w="254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01600" bIns="101600"/>
          <a:lstStyle/>
          <a:p>
            <a:pPr algn="ctr">
              <a:defRPr sz="1800">
                <a:solidFill>
                  <a:srgbClr val="F0F0F0"/>
                </a:solidFill>
                <a:latin typeface="Segoe UI"/>
              </a:defRPr>
            </a:pPr>
            <a:r>
              <a:t>Skill</a:t>
            </a:r>
          </a:p>
        </p:txBody>
      </p:sp>
      <p:sp>
        <p:nvSpPr>
          <p:cNvPr id="5" name="TextBox 4"/>
          <p:cNvSpPr txBox="1"/>
          <p:nvPr/>
        </p:nvSpPr>
        <p:spPr>
          <a:xfrm>
            <a:off x="2103120" y="2286000"/>
            <a:ext cx="548640" cy="731520"/>
          </a:xfrm>
          <a:prstGeom prst="rect">
            <a:avLst/>
          </a:prstGeom>
          <a:noFill/>
        </p:spPr>
        <p:txBody>
          <a:bodyPr wrap="square">
            <a:spAutoFit/>
          </a:bodyPr>
          <a:lstStyle/>
          <a:p>
            <a:pPr algn="ctr">
              <a:defRPr sz="2800" b="0">
                <a:solidFill>
                  <a:srgbClr val="666E7A"/>
                </a:solidFill>
                <a:latin typeface="Segoe UI"/>
              </a:defRPr>
            </a:pPr>
            <a:r>
              <a:t>→</a:t>
            </a:r>
          </a:p>
        </p:txBody>
      </p:sp>
      <p:sp>
        <p:nvSpPr>
          <p:cNvPr id="6" name="Rounded Rectangle 5"/>
          <p:cNvSpPr/>
          <p:nvPr/>
        </p:nvSpPr>
        <p:spPr>
          <a:xfrm>
            <a:off x="2651760" y="2103120"/>
            <a:ext cx="1280160" cy="914400"/>
          </a:xfrm>
          <a:prstGeom prst="roundRect">
            <a:avLst/>
          </a:prstGeom>
          <a:solidFill>
            <a:srgbClr val="141A24"/>
          </a:solidFill>
          <a:ln w="254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01600" bIns="101600"/>
          <a:lstStyle/>
          <a:p>
            <a:pPr algn="ctr">
              <a:defRPr sz="1800">
                <a:solidFill>
                  <a:srgbClr val="F0F0F0"/>
                </a:solidFill>
                <a:latin typeface="Segoe UI"/>
              </a:defRPr>
            </a:pPr>
            <a:r>
              <a:t>Hook</a:t>
            </a:r>
          </a:p>
        </p:txBody>
      </p:sp>
      <p:sp>
        <p:nvSpPr>
          <p:cNvPr id="7" name="TextBox 6"/>
          <p:cNvSpPr txBox="1"/>
          <p:nvPr/>
        </p:nvSpPr>
        <p:spPr>
          <a:xfrm>
            <a:off x="4023360" y="2286000"/>
            <a:ext cx="548640" cy="731520"/>
          </a:xfrm>
          <a:prstGeom prst="rect">
            <a:avLst/>
          </a:prstGeom>
          <a:noFill/>
        </p:spPr>
        <p:txBody>
          <a:bodyPr wrap="square">
            <a:spAutoFit/>
          </a:bodyPr>
          <a:lstStyle/>
          <a:p>
            <a:pPr algn="ctr">
              <a:defRPr sz="2800" b="0">
                <a:solidFill>
                  <a:srgbClr val="666E7A"/>
                </a:solidFill>
                <a:latin typeface="Segoe UI"/>
              </a:defRPr>
            </a:pPr>
            <a:r>
              <a:t>→</a:t>
            </a:r>
          </a:p>
        </p:txBody>
      </p:sp>
      <p:sp>
        <p:nvSpPr>
          <p:cNvPr id="8" name="Rounded Rectangle 7"/>
          <p:cNvSpPr/>
          <p:nvPr/>
        </p:nvSpPr>
        <p:spPr>
          <a:xfrm>
            <a:off x="4572000" y="2103120"/>
            <a:ext cx="1280160" cy="914400"/>
          </a:xfrm>
          <a:prstGeom prst="roundRect">
            <a:avLst/>
          </a:prstGeom>
          <a:solidFill>
            <a:srgbClr val="141A24"/>
          </a:solidFill>
          <a:ln w="254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01600" bIns="101600"/>
          <a:lstStyle/>
          <a:p>
            <a:pPr algn="ctr">
              <a:defRPr sz="1800">
                <a:solidFill>
                  <a:srgbClr val="F0F0F0"/>
                </a:solidFill>
                <a:latin typeface="Segoe UI"/>
              </a:defRPr>
            </a:pPr>
            <a:r>
              <a:t>MCP</a:t>
            </a:r>
          </a:p>
        </p:txBody>
      </p:sp>
      <p:sp>
        <p:nvSpPr>
          <p:cNvPr id="9" name="TextBox 8"/>
          <p:cNvSpPr txBox="1"/>
          <p:nvPr/>
        </p:nvSpPr>
        <p:spPr>
          <a:xfrm>
            <a:off x="5943600" y="2286000"/>
            <a:ext cx="548640" cy="731520"/>
          </a:xfrm>
          <a:prstGeom prst="rect">
            <a:avLst/>
          </a:prstGeom>
          <a:noFill/>
        </p:spPr>
        <p:txBody>
          <a:bodyPr wrap="square">
            <a:spAutoFit/>
          </a:bodyPr>
          <a:lstStyle/>
          <a:p>
            <a:pPr algn="ctr">
              <a:defRPr sz="2800" b="0">
                <a:solidFill>
                  <a:srgbClr val="666E7A"/>
                </a:solidFill>
                <a:latin typeface="Segoe UI"/>
              </a:defRPr>
            </a:pPr>
            <a:r>
              <a:t>→</a:t>
            </a:r>
          </a:p>
        </p:txBody>
      </p:sp>
      <p:sp>
        <p:nvSpPr>
          <p:cNvPr id="10" name="Rounded Rectangle 9"/>
          <p:cNvSpPr/>
          <p:nvPr/>
        </p:nvSpPr>
        <p:spPr>
          <a:xfrm>
            <a:off x="6492240" y="2103120"/>
            <a:ext cx="1280160" cy="914400"/>
          </a:xfrm>
          <a:prstGeom prst="roundRect">
            <a:avLst/>
          </a:prstGeom>
          <a:solidFill>
            <a:srgbClr val="141A24"/>
          </a:solidFill>
          <a:ln w="254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01600" bIns="101600"/>
          <a:lstStyle/>
          <a:p>
            <a:pPr algn="ctr">
              <a:defRPr sz="1800">
                <a:solidFill>
                  <a:srgbClr val="F0F0F0"/>
                </a:solidFill>
                <a:latin typeface="Segoe UI"/>
              </a:defRPr>
            </a:pPr>
            <a:r>
              <a:t>Agent</a:t>
            </a:r>
          </a:p>
        </p:txBody>
      </p:sp>
      <p:sp>
        <p:nvSpPr>
          <p:cNvPr id="11" name="TextBox 10"/>
          <p:cNvSpPr txBox="1"/>
          <p:nvPr/>
        </p:nvSpPr>
        <p:spPr>
          <a:xfrm>
            <a:off x="7863840" y="2286000"/>
            <a:ext cx="548640" cy="731520"/>
          </a:xfrm>
          <a:prstGeom prst="rect">
            <a:avLst/>
          </a:prstGeom>
          <a:noFill/>
        </p:spPr>
        <p:txBody>
          <a:bodyPr wrap="square">
            <a:spAutoFit/>
          </a:bodyPr>
          <a:lstStyle/>
          <a:p>
            <a:pPr algn="ctr">
              <a:defRPr sz="2800" b="0">
                <a:solidFill>
                  <a:srgbClr val="666E7A"/>
                </a:solidFill>
                <a:latin typeface="Segoe UI"/>
              </a:defRPr>
            </a:pPr>
            <a:r>
              <a:t>→</a:t>
            </a:r>
          </a:p>
        </p:txBody>
      </p:sp>
      <p:sp>
        <p:nvSpPr>
          <p:cNvPr id="12" name="Rounded Rectangle 11"/>
          <p:cNvSpPr/>
          <p:nvPr/>
        </p:nvSpPr>
        <p:spPr>
          <a:xfrm>
            <a:off x="8412480" y="2103120"/>
            <a:ext cx="1280160" cy="914400"/>
          </a:xfrm>
          <a:prstGeom prst="roundRect">
            <a:avLst/>
          </a:prstGeom>
          <a:solidFill>
            <a:srgbClr val="141A24"/>
          </a:solidFill>
          <a:ln w="254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01600" bIns="101600"/>
          <a:lstStyle/>
          <a:p>
            <a:pPr algn="ctr">
              <a:defRPr sz="1800">
                <a:solidFill>
                  <a:srgbClr val="F0F0F0"/>
                </a:solidFill>
                <a:latin typeface="Segoe UI"/>
              </a:defRPr>
            </a:pPr>
            <a:r>
              <a:t>Agent</a:t>
            </a:r>
          </a:p>
        </p:txBody>
      </p:sp>
      <p:sp>
        <p:nvSpPr>
          <p:cNvPr id="13" name="TextBox 12"/>
          <p:cNvSpPr txBox="1"/>
          <p:nvPr/>
        </p:nvSpPr>
        <p:spPr>
          <a:xfrm>
            <a:off x="9784080" y="2286000"/>
            <a:ext cx="548640" cy="731520"/>
          </a:xfrm>
          <a:prstGeom prst="rect">
            <a:avLst/>
          </a:prstGeom>
          <a:noFill/>
        </p:spPr>
        <p:txBody>
          <a:bodyPr wrap="square">
            <a:spAutoFit/>
          </a:bodyPr>
          <a:lstStyle/>
          <a:p>
            <a:pPr algn="ctr">
              <a:defRPr sz="2800" b="0">
                <a:solidFill>
                  <a:srgbClr val="666E7A"/>
                </a:solidFill>
                <a:latin typeface="Segoe UI"/>
              </a:defRPr>
            </a:pPr>
            <a:r>
              <a:t>→</a:t>
            </a:r>
          </a:p>
        </p:txBody>
      </p:sp>
      <p:sp>
        <p:nvSpPr>
          <p:cNvPr id="14" name="Rounded Rectangle 13"/>
          <p:cNvSpPr/>
          <p:nvPr/>
        </p:nvSpPr>
        <p:spPr>
          <a:xfrm>
            <a:off x="10332720" y="2103120"/>
            <a:ext cx="1280160" cy="914400"/>
          </a:xfrm>
          <a:prstGeom prst="roundRect">
            <a:avLst/>
          </a:prstGeom>
          <a:solidFill>
            <a:srgbClr val="141A24"/>
          </a:solidFill>
          <a:ln w="2540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01600" bIns="101600"/>
          <a:lstStyle/>
          <a:p>
            <a:pPr algn="ctr">
              <a:defRPr sz="1800">
                <a:solidFill>
                  <a:srgbClr val="F0F0F0"/>
                </a:solidFill>
                <a:latin typeface="Segoe UI"/>
              </a:defRPr>
            </a:pPr>
            <a:r>
              <a:t>Agent</a:t>
            </a:r>
          </a:p>
        </p:txBody>
      </p:sp>
      <p:sp>
        <p:nvSpPr>
          <p:cNvPr id="15" name="TextBox 14"/>
          <p:cNvSpPr txBox="1"/>
          <p:nvPr/>
        </p:nvSpPr>
        <p:spPr>
          <a:xfrm>
            <a:off x="914400" y="3657600"/>
            <a:ext cx="10332720" cy="1828800"/>
          </a:xfrm>
          <a:prstGeom prst="rect">
            <a:avLst/>
          </a:prstGeom>
          <a:noFill/>
        </p:spPr>
        <p:txBody>
          <a:bodyPr wrap="square">
            <a:spAutoFit/>
          </a:bodyPr>
          <a:lstStyle/>
          <a:p>
            <a:pPr algn="ctr">
              <a:defRPr sz="2400" b="0">
                <a:solidFill>
                  <a:srgbClr val="F0F0F0"/>
                </a:solidFill>
                <a:latin typeface="Segoe UI"/>
              </a:defRPr>
            </a:pPr>
            <a:r>
              <a:t>Ein Skill, der einen Hook nutzt,</a:t>
            </a:r>
            <a:br/>
            <a:r>
              <a:t>der ueber MCP mit Jira spricht,</a:t>
            </a:r>
            <a:br/>
            <a:r>
              <a:t>gesteuert von einem Agent,</a:t>
            </a:r>
            <a:br/>
            <a:r>
              <a:t>der drei andere Agents koordiniert.</a:t>
            </a:r>
            <a:br/>
            <a:br/>
            <a:r>
              <a:t>Die einzige Grenze ist eure Vorstellungskraft.</a:t>
            </a:r>
          </a:p>
        </p:txBody>
      </p:sp>
      <p:sp>
        <p:nvSpPr>
          <p:cNvPr id="16" name="TextBox 15"/>
          <p:cNvSpPr txBox="1"/>
          <p:nvPr/>
        </p:nvSpPr>
        <p:spPr>
          <a:xfrm>
            <a:off x="1828800" y="5943600"/>
            <a:ext cx="8503920" cy="457200"/>
          </a:xfrm>
          <a:prstGeom prst="rect">
            <a:avLst/>
          </a:prstGeom>
          <a:noFill/>
        </p:spPr>
        <p:txBody>
          <a:bodyPr wrap="square">
            <a:spAutoFit/>
          </a:bodyPr>
          <a:lstStyle/>
          <a:p>
            <a:pPr algn="r">
              <a:defRPr sz="1400" b="0">
                <a:solidFill>
                  <a:srgbClr val="666E7A"/>
                </a:solidFill>
                <a:latin typeface="Segoe UI"/>
              </a:defRPr>
            </a:pPr>
            <a:r>
              <a:t>[0:45 - 1:15]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914400" y="1828800"/>
            <a:ext cx="10332720" cy="1097280"/>
          </a:xfrm>
          <a:prstGeom prst="rect">
            <a:avLst/>
          </a:prstGeom>
          <a:noFill/>
        </p:spPr>
        <p:txBody>
          <a:bodyPr wrap="square">
            <a:spAutoFit/>
          </a:bodyPr>
          <a:lstStyle/>
          <a:p>
            <a:pPr algn="ctr">
              <a:defRPr sz="4800" b="1">
                <a:solidFill>
                  <a:srgbClr val="F0F0F0"/>
                </a:solidFill>
                <a:latin typeface="Segoe UI"/>
              </a:defRPr>
            </a:pPr>
            <a:r>
              <a:t>Bereit, eure Werkstatt</a:t>
            </a:r>
            <a:br/>
            <a:r>
              <a:t>einzurichten?</a:t>
            </a:r>
          </a:p>
        </p:txBody>
      </p:sp>
      <p:sp>
        <p:nvSpPr>
          <p:cNvPr id="3" name="Rectangle 2"/>
          <p:cNvSpPr/>
          <p:nvPr/>
        </p:nvSpPr>
        <p:spPr>
          <a:xfrm>
            <a:off x="2743200" y="3200400"/>
            <a:ext cx="6675120" cy="381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657600"/>
            <a:ext cx="10332720" cy="914400"/>
          </a:xfrm>
          <a:prstGeom prst="rect">
            <a:avLst/>
          </a:prstGeom>
          <a:noFill/>
        </p:spPr>
        <p:txBody>
          <a:bodyPr wrap="square">
            <a:spAutoFit/>
          </a:bodyPr>
          <a:lstStyle/>
          <a:p>
            <a:pPr algn="ctr">
              <a:defRPr sz="2400" b="0">
                <a:solidFill>
                  <a:srgbClr val="00D4FF"/>
                </a:solidFill>
                <a:latin typeface="Segoe UI"/>
              </a:defRPr>
            </a:pPr>
            <a:r>
              <a:t>3 Sessions — eure persoenliche, grenzenlose Entwicklungsumgebung.</a:t>
            </a:r>
          </a:p>
        </p:txBody>
      </p:sp>
      <p:sp>
        <p:nvSpPr>
          <p:cNvPr id="5" name="TextBox 4"/>
          <p:cNvSpPr txBox="1"/>
          <p:nvPr/>
        </p:nvSpPr>
        <p:spPr>
          <a:xfrm>
            <a:off x="1828800" y="5943600"/>
            <a:ext cx="8503920" cy="457200"/>
          </a:xfrm>
          <a:prstGeom prst="rect">
            <a:avLst/>
          </a:prstGeom>
          <a:noFill/>
        </p:spPr>
        <p:txBody>
          <a:bodyPr wrap="square">
            <a:spAutoFit/>
          </a:bodyPr>
          <a:lstStyle/>
          <a:p>
            <a:pPr algn="r">
              <a:defRPr sz="1400" b="0">
                <a:solidFill>
                  <a:srgbClr val="666E7A"/>
                </a:solidFill>
                <a:latin typeface="Segoe UI"/>
              </a:defRPr>
            </a:pPr>
            <a:r>
              <a:t>[1:15 - 1:30]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